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8288000" cy="10287000"/>
  <p:notesSz cx="6858000" cy="9144000"/>
  <p:embeddedFontLst>
    <p:embeddedFont>
      <p:font typeface="Arimo" panose="020B0604020202020204" charset="0"/>
      <p:regular r:id="rId21"/>
    </p:embeddedFont>
    <p:embeddedFont>
      <p:font typeface="Canva Sans" panose="020B0604020202020204" charset="0"/>
      <p:regular r:id="rId22"/>
    </p:embeddedFont>
    <p:embeddedFont>
      <p:font typeface="Canva Sans Bold" panose="020B0604020202020204" charset="0"/>
      <p:regular r:id="rId23"/>
    </p:embeddedFont>
    <p:embeddedFont>
      <p:font typeface="Playfair Display" panose="020F0502020204030204" pitchFamily="2" charset="0"/>
      <p:regular r:id="rId24"/>
    </p:embeddedFont>
    <p:embeddedFont>
      <p:font typeface="Public Sans" panose="020B0604020202020204" charset="0"/>
      <p:regular r:id="rId25"/>
    </p:embeddedFont>
    <p:embeddedFont>
      <p:font typeface="Public Sans Bold" panose="020B060402020202020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0" d="100"/>
          <a:sy n="60" d="100"/>
        </p:scale>
        <p:origin x="37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8050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028706" y="4514765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SG"/>
          </a:p>
        </p:txBody>
      </p:sp>
      <p:sp>
        <p:nvSpPr>
          <p:cNvPr id="3" name="TextBox 3"/>
          <p:cNvSpPr txBox="1"/>
          <p:nvPr/>
        </p:nvSpPr>
        <p:spPr>
          <a:xfrm>
            <a:off x="850974" y="3073534"/>
            <a:ext cx="16408332" cy="1342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883"/>
              </a:lnSpc>
            </a:pPr>
            <a:r>
              <a:rPr lang="en-US" sz="10860" spc="54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DAVI CA2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4863239"/>
            <a:ext cx="7862435" cy="1292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50"/>
              </a:lnSpc>
            </a:pPr>
            <a:r>
              <a:rPr lang="en-US" sz="35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Goh Kun Ming, Goh Jenson</a:t>
            </a:r>
          </a:p>
          <a:p>
            <a:pPr algn="l">
              <a:lnSpc>
                <a:spcPts val="5250"/>
              </a:lnSpc>
            </a:pPr>
            <a:r>
              <a:rPr lang="en-US" sz="35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DAAA</a:t>
            </a:r>
            <a:r>
              <a:rPr lang="en-US" sz="35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/FT/2B/02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212782" y="-47625"/>
            <a:ext cx="7862435" cy="276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5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Official (Closed), Sensitive (Normal)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028695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SG"/>
          </a:p>
        </p:txBody>
      </p:sp>
      <p:sp>
        <p:nvSpPr>
          <p:cNvPr id="3" name="TextBox 3"/>
          <p:cNvSpPr txBox="1"/>
          <p:nvPr/>
        </p:nvSpPr>
        <p:spPr>
          <a:xfrm>
            <a:off x="1028700" y="446589"/>
            <a:ext cx="16230600" cy="1087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40"/>
              </a:lnSpc>
              <a:spcBef>
                <a:spcPct val="0"/>
              </a:spcBef>
            </a:pPr>
            <a:r>
              <a:rPr lang="en-US" sz="6314" b="1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ASSIGNMENT OBJECTIVE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422784" y="1946907"/>
            <a:ext cx="15442431" cy="7319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58"/>
              </a:lnSpc>
              <a:spcBef>
                <a:spcPct val="0"/>
              </a:spcBef>
            </a:pPr>
            <a:r>
              <a:rPr lang="en-US" sz="404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Understand how academic outcomes, engagement, and learning behaviours interact to identify at-risk cohorts and guide targeted support.</a:t>
            </a:r>
          </a:p>
          <a:p>
            <a:pPr algn="ctr">
              <a:lnSpc>
                <a:spcPts val="5658"/>
              </a:lnSpc>
              <a:spcBef>
                <a:spcPct val="0"/>
              </a:spcBef>
            </a:pPr>
            <a:endParaRPr lang="en-US" sz="4041">
              <a:solidFill>
                <a:srgbClr val="2B2C30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algn="ctr">
              <a:lnSpc>
                <a:spcPts val="5658"/>
              </a:lnSpc>
              <a:spcBef>
                <a:spcPct val="0"/>
              </a:spcBef>
            </a:pPr>
            <a:r>
              <a:rPr lang="en-US" sz="404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Dashboard Link:</a:t>
            </a:r>
          </a:p>
          <a:p>
            <a:pPr algn="ctr">
              <a:lnSpc>
                <a:spcPts val="5658"/>
              </a:lnSpc>
              <a:spcBef>
                <a:spcPct val="0"/>
              </a:spcBef>
            </a:pPr>
            <a:r>
              <a:rPr lang="en-US" sz="4041" u="sng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  <a:hlinkClick r:id="rId2" tooltip="http://localhost:8050"/>
              </a:rPr>
              <a:t>localhost:8050</a:t>
            </a:r>
          </a:p>
          <a:p>
            <a:pPr algn="ctr">
              <a:lnSpc>
                <a:spcPts val="5658"/>
              </a:lnSpc>
              <a:spcBef>
                <a:spcPct val="0"/>
              </a:spcBef>
            </a:pPr>
            <a:r>
              <a:rPr lang="en-US" sz="404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Kun Ming Charts for Grading: A1 (PX), A2, A3, A4 (GO)</a:t>
            </a:r>
          </a:p>
          <a:p>
            <a:pPr algn="ctr">
              <a:lnSpc>
                <a:spcPts val="5658"/>
              </a:lnSpc>
              <a:spcBef>
                <a:spcPct val="0"/>
              </a:spcBef>
            </a:pPr>
            <a:r>
              <a:rPr lang="en-US" sz="404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Jenson Charts for Grading:  B1 (PX), B3,  B4, B8(GO) </a:t>
            </a:r>
          </a:p>
          <a:p>
            <a:pPr algn="ctr">
              <a:lnSpc>
                <a:spcPts val="6498"/>
              </a:lnSpc>
              <a:spcBef>
                <a:spcPct val="0"/>
              </a:spcBef>
            </a:pPr>
            <a:endParaRPr lang="en-US" sz="4041">
              <a:solidFill>
                <a:srgbClr val="2B2C30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algn="ctr">
              <a:lnSpc>
                <a:spcPts val="6498"/>
              </a:lnSpc>
              <a:spcBef>
                <a:spcPct val="0"/>
              </a:spcBef>
            </a:pPr>
            <a:endParaRPr lang="en-US" sz="4041">
              <a:solidFill>
                <a:srgbClr val="2B2C3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231832" y="-47625"/>
            <a:ext cx="7862435" cy="276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5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Official (Closed), Sensitive (Normal)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028695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SG"/>
          </a:p>
        </p:txBody>
      </p:sp>
      <p:sp>
        <p:nvSpPr>
          <p:cNvPr id="3" name="TextBox 3"/>
          <p:cNvSpPr txBox="1"/>
          <p:nvPr/>
        </p:nvSpPr>
        <p:spPr>
          <a:xfrm>
            <a:off x="1028700" y="484689"/>
            <a:ext cx="16230600" cy="780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20"/>
              </a:lnSpc>
              <a:spcBef>
                <a:spcPct val="0"/>
              </a:spcBef>
            </a:pPr>
            <a:r>
              <a:rPr lang="en-US" sz="4514" b="1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DATA ISSUES - COURSE CODE AND STUDENT RESULTS</a:t>
            </a:r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350262" y="1935550"/>
          <a:ext cx="17587476" cy="2645655"/>
        </p:xfrm>
        <a:graphic>
          <a:graphicData uri="http://schemas.openxmlformats.org/drawingml/2006/table">
            <a:tbl>
              <a:tblPr/>
              <a:tblGrid>
                <a:gridCol w="9850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91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173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42233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Field Name</a:t>
                      </a:r>
                      <a:endParaRPr lang="en-US" sz="1100"/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No. of Records Affected</a:t>
                      </a:r>
                      <a:endParaRPr lang="en-US" sz="1100"/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Action Taken to Clean the Data</a:t>
                      </a:r>
                      <a:endParaRPr lang="en-US" sz="1100"/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5942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CODE</a:t>
                      </a:r>
                      <a:endParaRPr lang="en-US" sz="1100"/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7</a:t>
                      </a:r>
                      <a:endParaRPr lang="en-US" sz="1100"/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Converted ‘int64’ to ’int16’</a:t>
                      </a:r>
                      <a:endParaRPr lang="en-US" sz="1100"/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7480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COURSE NAME</a:t>
                      </a:r>
                      <a:endParaRPr lang="en-US" sz="1100"/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7</a:t>
                      </a:r>
                      <a:endParaRPr lang="en-US" sz="1100"/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Converted ‘object’ to ‘string’</a:t>
                      </a:r>
                      <a:endParaRPr lang="en-US" sz="1100"/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350262" y="4732588"/>
          <a:ext cx="17587476" cy="5554412"/>
        </p:xfrm>
        <a:graphic>
          <a:graphicData uri="http://schemas.openxmlformats.org/drawingml/2006/table">
            <a:tbl>
              <a:tblPr/>
              <a:tblGrid>
                <a:gridCol w="98588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33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95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48408">
                <a:tc>
                  <a:txBody>
                    <a:bodyPr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All Columns (Duplicates)</a:t>
                      </a:r>
                      <a:endParaRPr lang="en-US" sz="1100"/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12</a:t>
                      </a:r>
                      <a:endParaRPr lang="en-US" sz="1100"/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Dropped duplicates</a:t>
                      </a:r>
                      <a:endParaRPr lang="en-US" sz="1100"/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8408">
                <a:tc>
                  <a:txBody>
                    <a:bodyPr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STUDENT ID + PERIOD</a:t>
                      </a:r>
                      <a:endParaRPr lang="en-US" sz="1100"/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21</a:t>
                      </a:r>
                      <a:endParaRPr lang="en-US" sz="1100"/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Dropped rows as they violate entity integrity rule</a:t>
                      </a:r>
                      <a:endParaRPr lang="en-US" sz="1100"/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7704">
                <a:tc>
                  <a:txBody>
                    <a:bodyPr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STUDENT ID</a:t>
                      </a:r>
                      <a:endParaRPr lang="en-US" sz="1100"/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543</a:t>
                      </a:r>
                      <a:endParaRPr lang="en-US" sz="1100"/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Converted ‘object’ to ‘string’</a:t>
                      </a:r>
                      <a:endParaRPr lang="en-US" sz="1100"/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7704">
                <a:tc>
                  <a:txBody>
                    <a:bodyPr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GPA</a:t>
                      </a:r>
                      <a:endParaRPr lang="en-US" sz="1100"/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543</a:t>
                      </a:r>
                      <a:endParaRPr lang="en-US" sz="1100"/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Converted ‘int64’ to ‘float32’</a:t>
                      </a:r>
                      <a:endParaRPr lang="en-US" sz="1100"/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4485">
                <a:tc>
                  <a:txBody>
                    <a:bodyPr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PERIOD</a:t>
                      </a:r>
                      <a:endParaRPr lang="en-US" sz="1100"/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412</a:t>
                      </a:r>
                      <a:endParaRPr lang="en-US" sz="1100"/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Standardised (e.g. Sem1, Sem 1 -&gt; Semester 1), Converted ‘object’ to ‘string’</a:t>
                      </a:r>
                      <a:endParaRPr lang="en-US" sz="1100"/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7704">
                <a:tc>
                  <a:txBody>
                    <a:bodyPr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Attendance</a:t>
                      </a:r>
                      <a:endParaRPr lang="en-US" sz="1100"/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543</a:t>
                      </a:r>
                      <a:endParaRPr lang="en-US" sz="1100"/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Converted ‘int64’ to ‘int16’</a:t>
                      </a:r>
                      <a:endParaRPr lang="en-US" sz="1100"/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6"/>
          <p:cNvSpPr txBox="1"/>
          <p:nvPr/>
        </p:nvSpPr>
        <p:spPr>
          <a:xfrm>
            <a:off x="5212782" y="-47625"/>
            <a:ext cx="7862435" cy="276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5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Official (Closed), Sensitive (Normal)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946267" y="66040"/>
            <a:ext cx="10395467" cy="962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 Issues – Student Survery</a:t>
            </a:r>
          </a:p>
        </p:txBody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2973716" y="1555896"/>
          <a:ext cx="12340568" cy="7917885"/>
        </p:xfrm>
        <a:graphic>
          <a:graphicData uri="http://schemas.openxmlformats.org/drawingml/2006/table">
            <a:tbl>
              <a:tblPr/>
              <a:tblGrid>
                <a:gridCol w="60443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62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00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8660">
                <a:tc>
                  <a:txBody>
                    <a:bodyPr/>
                    <a:lstStyle/>
                    <a:p>
                      <a:pPr algn="l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Field Name</a:t>
                      </a:r>
                      <a:endParaRPr lang="en-US" sz="1100"/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Number of Records Affected</a:t>
                      </a:r>
                      <a:endParaRPr lang="en-US" sz="1100"/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Action Taken to Clean the Data</a:t>
                      </a:r>
                      <a:endParaRPr lang="en-US" sz="1100"/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5822">
                <a:tc>
                  <a:txBody>
                    <a:bodyPr/>
                    <a:lstStyle/>
                    <a:p>
                      <a:pPr algn="l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All Columns (Duplicates)</a:t>
                      </a:r>
                      <a:endParaRPr lang="en-US" sz="1100"/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12</a:t>
                      </a:r>
                      <a:endParaRPr lang="en-US" sz="1100"/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Dropped duplicates</a:t>
                      </a:r>
                      <a:endParaRPr lang="en-US" sz="1100"/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3118">
                <a:tc>
                  <a:txBody>
                    <a:bodyPr/>
                    <a:lstStyle/>
                    <a:p>
                      <a:pPr algn="l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STUDENT ID</a:t>
                      </a:r>
                      <a:endParaRPr lang="en-US" sz="1100"/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531</a:t>
                      </a:r>
                      <a:endParaRPr lang="en-US" sz="1100"/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Converted ‘object’ to ‘string’</a:t>
                      </a:r>
                      <a:endParaRPr lang="en-US" sz="1100"/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30349">
                <a:tc>
                  <a:txBody>
                    <a:bodyPr/>
                    <a:lstStyle/>
                    <a:p>
                      <a:pPr algn="l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PERIOD</a:t>
                      </a:r>
                      <a:endParaRPr lang="en-US" sz="1100"/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423</a:t>
                      </a:r>
                      <a:endParaRPr lang="en-US" sz="1100"/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Standardised (e.g. Sem1, Sem 1 -&gt; Semester 1), Converted ‘object’ to ‘string’</a:t>
                      </a:r>
                      <a:endParaRPr lang="en-US" sz="1100"/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966">
                <a:tc>
                  <a:txBody>
                    <a:bodyPr/>
                    <a:lstStyle/>
                    <a:p>
                      <a:pPr algn="l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PRIOR KNOWLEDGE</a:t>
                      </a:r>
                      <a:endParaRPr lang="en-US" sz="1100"/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531</a:t>
                      </a:r>
                      <a:endParaRPr lang="en-US" sz="1100"/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Converted ‘int64’ to ’int8’</a:t>
                      </a:r>
                      <a:endParaRPr lang="en-US" sz="1100"/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4394">
                <a:tc>
                  <a:txBody>
                    <a:bodyPr/>
                    <a:lstStyle/>
                    <a:p>
                      <a:pPr algn="l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COURSE RELEVANCE</a:t>
                      </a:r>
                      <a:endParaRPr lang="en-US" sz="1100"/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531</a:t>
                      </a:r>
                      <a:endParaRPr lang="en-US" sz="1100"/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Converted ‘int64’ to ’int8’</a:t>
                      </a:r>
                      <a:endParaRPr lang="en-US" sz="1100"/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74394">
                <a:tc>
                  <a:txBody>
                    <a:bodyPr/>
                    <a:lstStyle/>
                    <a:p>
                      <a:pPr algn="l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TEACHING SUPPORT</a:t>
                      </a:r>
                      <a:endParaRPr lang="en-US" sz="1100"/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531</a:t>
                      </a:r>
                      <a:endParaRPr lang="en-US" sz="1100"/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Converted ‘int64’ to’int8’</a:t>
                      </a:r>
                      <a:endParaRPr lang="en-US" sz="1100"/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74394">
                <a:tc>
                  <a:txBody>
                    <a:bodyPr/>
                    <a:lstStyle/>
                    <a:p>
                      <a:pPr algn="l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COMPANY SUPPORT</a:t>
                      </a:r>
                      <a:endParaRPr lang="en-US" sz="1100"/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531</a:t>
                      </a:r>
                      <a:endParaRPr lang="en-US" sz="1100"/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Converted ‘int64’ to ’int8’</a:t>
                      </a:r>
                      <a:endParaRPr lang="en-US" sz="1100"/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74394">
                <a:tc>
                  <a:txBody>
                    <a:bodyPr/>
                    <a:lstStyle/>
                    <a:p>
                      <a:pPr algn="l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FAMILY SUPPORT</a:t>
                      </a:r>
                      <a:endParaRPr lang="en-US" sz="1100"/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531</a:t>
                      </a:r>
                      <a:endParaRPr lang="en-US" sz="1100"/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Converted ‘int64’ to ’int8’</a:t>
                      </a:r>
                      <a:endParaRPr lang="en-US" sz="1100"/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774394">
                <a:tc>
                  <a:txBody>
                    <a:bodyPr/>
                    <a:lstStyle/>
                    <a:p>
                      <a:pPr algn="l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SELF-STUDY HRS</a:t>
                      </a:r>
                      <a:endParaRPr lang="en-US" sz="1100"/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531</a:t>
                      </a:r>
                      <a:endParaRPr lang="en-US" sz="1100"/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Converted ‘int64’ to ’int8’</a:t>
                      </a:r>
                      <a:endParaRPr lang="en-US" sz="1100"/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" name="TextBox 4"/>
          <p:cNvSpPr txBox="1"/>
          <p:nvPr/>
        </p:nvSpPr>
        <p:spPr>
          <a:xfrm>
            <a:off x="5212782" y="-47625"/>
            <a:ext cx="7862435" cy="276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5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Official (Closed), Sensitive (Normal)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152900" y="66040"/>
            <a:ext cx="9982200" cy="962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 Issues – Student Profile</a:t>
            </a:r>
          </a:p>
        </p:txBody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331968" y="1028700"/>
          <a:ext cx="17624065" cy="9262642"/>
        </p:xfrm>
        <a:graphic>
          <a:graphicData uri="http://schemas.openxmlformats.org/drawingml/2006/table">
            <a:tbl>
              <a:tblPr/>
              <a:tblGrid>
                <a:gridCol w="7479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926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6277">
                <a:tc>
                  <a:txBody>
                    <a:bodyPr/>
                    <a:lstStyle/>
                    <a:p>
                      <a:pPr algn="l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Field Name</a:t>
                      </a:r>
                      <a:endParaRPr lang="en-US" sz="1100"/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Number of Records Affected</a:t>
                      </a:r>
                      <a:endParaRPr lang="en-US" sz="1100"/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Action Taken to Clean the Data</a:t>
                      </a:r>
                      <a:endParaRPr lang="en-US" sz="1100"/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9503">
                <a:tc>
                  <a:txBody>
                    <a:bodyPr/>
                    <a:lstStyle/>
                    <a:p>
                      <a:pPr algn="l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All Columns (Duplicates)</a:t>
                      </a:r>
                      <a:endParaRPr lang="en-US" sz="1100"/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10</a:t>
                      </a:r>
                      <a:endParaRPr lang="en-US" sz="1100"/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Dropped duplicates</a:t>
                      </a:r>
                      <a:endParaRPr lang="en-US" sz="1100"/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6277">
                <a:tc>
                  <a:txBody>
                    <a:bodyPr/>
                    <a:lstStyle/>
                    <a:p>
                      <a:pPr algn="l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STUDENT ID</a:t>
                      </a:r>
                      <a:endParaRPr lang="en-US" sz="1100"/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</a:t>
                      </a:r>
                      <a:endParaRPr lang="en-US" sz="1100"/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Dropped Duplicates</a:t>
                      </a:r>
                      <a:endParaRPr lang="en-US" sz="1100"/>
                    </a:p>
                    <a:p>
                      <a:pPr algn="l">
                        <a:lnSpc>
                          <a:spcPts val="1960"/>
                        </a:lnSpc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Converted ‘object’ to ‘string’</a:t>
                      </a:r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9503">
                <a:tc>
                  <a:txBody>
                    <a:bodyPr/>
                    <a:lstStyle/>
                    <a:p>
                      <a:pPr algn="l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GENDER</a:t>
                      </a:r>
                      <a:endParaRPr lang="en-US" sz="1100"/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297</a:t>
                      </a:r>
                      <a:endParaRPr lang="en-US" sz="1100"/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Converted ‘object’ to ‘string’</a:t>
                      </a:r>
                      <a:endParaRPr lang="en-US" sz="1100"/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44266">
                <a:tc>
                  <a:txBody>
                    <a:bodyPr/>
                    <a:lstStyle/>
                    <a:p>
                      <a:pPr algn="l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SG CITIZEN</a:t>
                      </a:r>
                      <a:endParaRPr lang="en-US" sz="1100"/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39</a:t>
                      </a:r>
                      <a:endParaRPr lang="en-US" sz="1100"/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Converted missing values to ‘N’ </a:t>
                      </a:r>
                      <a:endParaRPr lang="en-US" sz="1100"/>
                    </a:p>
                    <a:p>
                      <a:pPr algn="l">
                        <a:lnSpc>
                          <a:spcPts val="1960"/>
                        </a:lnSpc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Converted ‘object’ to ‘string’</a:t>
                      </a:r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44266">
                <a:tc>
                  <a:txBody>
                    <a:bodyPr/>
                    <a:lstStyle/>
                    <a:p>
                      <a:pPr algn="l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SG PR</a:t>
                      </a:r>
                      <a:endParaRPr lang="en-US" sz="1100"/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275</a:t>
                      </a:r>
                      <a:endParaRPr lang="en-US" sz="1100"/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Converted missing values to ‘N’ Converted ‘object’ to ‘string’</a:t>
                      </a:r>
                      <a:endParaRPr lang="en-US" sz="1100"/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44266">
                <a:tc>
                  <a:txBody>
                    <a:bodyPr/>
                    <a:lstStyle/>
                    <a:p>
                      <a:pPr algn="l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FOREIGNER</a:t>
                      </a:r>
                      <a:endParaRPr lang="en-US" sz="1100"/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271</a:t>
                      </a:r>
                      <a:endParaRPr lang="en-US" sz="1100"/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Converted missing values to ‘N’ Converted ‘object’ to ‘string’</a:t>
                      </a:r>
                      <a:endParaRPr lang="en-US" sz="1100"/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40245">
                <a:tc>
                  <a:txBody>
                    <a:bodyPr/>
                    <a:lstStyle/>
                    <a:p>
                      <a:pPr algn="l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COUNTRY OF OTHER NATIONALITY</a:t>
                      </a:r>
                      <a:endParaRPr lang="en-US" sz="1100"/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151</a:t>
                      </a:r>
                      <a:endParaRPr lang="en-US" sz="1100"/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Converted missing values to ‘N.A.’</a:t>
                      </a:r>
                      <a:endParaRPr lang="en-US" sz="1100"/>
                    </a:p>
                    <a:p>
                      <a:pPr algn="l">
                        <a:lnSpc>
                          <a:spcPts val="1960"/>
                        </a:lnSpc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Converted ‘Malaysian’ to ‘Malaysia’</a:t>
                      </a:r>
                    </a:p>
                    <a:p>
                      <a:pPr algn="l">
                        <a:lnSpc>
                          <a:spcPts val="1960"/>
                        </a:lnSpc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Converted ‘object’ to‘string’</a:t>
                      </a:r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69503">
                <a:tc>
                  <a:txBody>
                    <a:bodyPr/>
                    <a:lstStyle/>
                    <a:p>
                      <a:pPr algn="l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DOB</a:t>
                      </a:r>
                      <a:endParaRPr lang="en-US" sz="1100"/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297</a:t>
                      </a:r>
                      <a:endParaRPr lang="en-US" sz="1100"/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Converted ‘object’ to ‘string’</a:t>
                      </a:r>
                      <a:endParaRPr lang="en-US" sz="1100"/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944266">
                <a:tc>
                  <a:txBody>
                    <a:bodyPr/>
                    <a:lstStyle/>
                    <a:p>
                      <a:pPr algn="l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HIGHEST QUALIFICATION</a:t>
                      </a:r>
                      <a:endParaRPr lang="en-US" sz="1100"/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</a:t>
                      </a:r>
                      <a:endParaRPr lang="en-US" sz="1100"/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Filled missing value with the mode</a:t>
                      </a:r>
                      <a:endParaRPr lang="en-US" sz="1100"/>
                    </a:p>
                    <a:p>
                      <a:pPr algn="l">
                        <a:lnSpc>
                          <a:spcPts val="1960"/>
                        </a:lnSpc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Converted ‘object’ to ‘string’</a:t>
                      </a:r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944266">
                <a:tc>
                  <a:txBody>
                    <a:bodyPr/>
                    <a:lstStyle/>
                    <a:p>
                      <a:pPr algn="l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NAME OF QUALIFICATION AND INSTITUTION</a:t>
                      </a:r>
                      <a:endParaRPr lang="en-US" sz="1100"/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153</a:t>
                      </a:r>
                      <a:endParaRPr lang="en-US" sz="1100"/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Standardised (e.g. O’ level à O’ Level)</a:t>
                      </a:r>
                      <a:endParaRPr lang="en-US" sz="1100"/>
                    </a:p>
                    <a:p>
                      <a:pPr algn="l">
                        <a:lnSpc>
                          <a:spcPts val="1960"/>
                        </a:lnSpc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Converted ‘object’ to ‘string</a:t>
                      </a:r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" name="TextBox 4"/>
          <p:cNvSpPr txBox="1"/>
          <p:nvPr/>
        </p:nvSpPr>
        <p:spPr>
          <a:xfrm>
            <a:off x="5212782" y="-47625"/>
            <a:ext cx="7862435" cy="276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5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Official (Closed), Sensitive (Normal)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933404" y="66040"/>
            <a:ext cx="9982200" cy="962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 Issues – Student Profile</a:t>
            </a:r>
          </a:p>
        </p:txBody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0" y="1303722"/>
          <a:ext cx="18288000" cy="8983278"/>
        </p:xfrm>
        <a:graphic>
          <a:graphicData uri="http://schemas.openxmlformats.org/drawingml/2006/table">
            <a:tbl>
              <a:tblPr/>
              <a:tblGrid>
                <a:gridCol w="8107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28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9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4248">
                <a:tc>
                  <a:txBody>
                    <a:bodyPr/>
                    <a:lstStyle/>
                    <a:p>
                      <a:pPr algn="l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Field Name</a:t>
                      </a:r>
                      <a:endParaRPr lang="en-US" sz="1100"/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Number of Records Affected</a:t>
                      </a:r>
                      <a:endParaRPr lang="en-US" sz="1100"/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Action Taken to Clean the Data</a:t>
                      </a:r>
                      <a:endParaRPr lang="en-US" sz="1100"/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8306">
                <a:tc>
                  <a:txBody>
                    <a:bodyPr/>
                    <a:lstStyle/>
                    <a:p>
                      <a:pPr algn="l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DESIGNATION</a:t>
                      </a:r>
                      <a:endParaRPr lang="en-US" sz="1100"/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59</a:t>
                      </a:r>
                      <a:endParaRPr lang="en-US" sz="1100"/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Standardised (e.g. HR/Admin, HR &amp; ADMIN to HR &amp; Admin)</a:t>
                      </a:r>
                      <a:endParaRPr lang="en-US" sz="1100"/>
                    </a:p>
                    <a:p>
                      <a:pPr algn="l">
                        <a:lnSpc>
                          <a:spcPts val="1960"/>
                        </a:lnSpc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Converted ‘object’ to ‘string’</a:t>
                      </a:r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5845">
                <a:tc>
                  <a:txBody>
                    <a:bodyPr/>
                    <a:lstStyle/>
                    <a:p>
                      <a:pPr algn="l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COMMENCEMENT DATE</a:t>
                      </a:r>
                      <a:endParaRPr lang="en-US" sz="1100"/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</a:t>
                      </a:r>
                      <a:endParaRPr lang="en-US" sz="1100"/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Converted missing values to ‘N.A.’</a:t>
                      </a:r>
                      <a:endParaRPr lang="en-US" sz="1100"/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13512">
                <a:tc>
                  <a:txBody>
                    <a:bodyPr/>
                    <a:lstStyle/>
                    <a:p>
                      <a:pPr algn="l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COMMENCEMENT DATE</a:t>
                      </a:r>
                      <a:endParaRPr lang="en-US" sz="1100"/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18</a:t>
                      </a:r>
                      <a:endParaRPr lang="en-US" sz="1100"/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Standardised (e.g. '10th Apr 2023’ to '2023-04-10’)</a:t>
                      </a:r>
                      <a:endParaRPr lang="en-US" sz="1100"/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6307">
                <a:tc>
                  <a:txBody>
                    <a:bodyPr/>
                    <a:lstStyle/>
                    <a:p>
                      <a:pPr algn="l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COMPLETION DATE</a:t>
                      </a:r>
                      <a:endParaRPr lang="en-US" sz="1100"/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20</a:t>
                      </a:r>
                      <a:endParaRPr lang="en-US" sz="1100"/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Converted missing values to ‘N.A.’</a:t>
                      </a:r>
                      <a:endParaRPr lang="en-US" sz="1100"/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39377">
                <a:tc>
                  <a:txBody>
                    <a:bodyPr/>
                    <a:lstStyle/>
                    <a:p>
                      <a:pPr algn="l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COMPLETION DATE</a:t>
                      </a:r>
                      <a:endParaRPr lang="en-US" sz="1100"/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15</a:t>
                      </a:r>
                      <a:endParaRPr lang="en-US" sz="1100"/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Standardised (e.g. '15th Sep 2025’ to '2025-9-15’)</a:t>
                      </a:r>
                      <a:endParaRPr lang="en-US" sz="1100"/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39377">
                <a:tc>
                  <a:txBody>
                    <a:bodyPr/>
                    <a:lstStyle/>
                    <a:p>
                      <a:pPr algn="l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FULL-TIME OR PART-TIME</a:t>
                      </a:r>
                      <a:endParaRPr lang="en-US" sz="1100"/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28</a:t>
                      </a:r>
                      <a:endParaRPr lang="en-US" sz="1100"/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Standardised (e.g. ‘Part Time’ to ‘Part-Time’)</a:t>
                      </a:r>
                      <a:endParaRPr lang="en-US" sz="1100"/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36306">
                <a:tc>
                  <a:txBody>
                    <a:bodyPr/>
                    <a:lstStyle/>
                    <a:p>
                      <a:pPr algn="l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COURSE FUNDING</a:t>
                      </a:r>
                      <a:endParaRPr lang="en-US" sz="1100"/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26</a:t>
                      </a:r>
                      <a:endParaRPr lang="en-US" sz="1100"/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Standarised (e.g. 'Sponsored-no SDF’ , 'Sponsored - SDF’ , 'Sponsored - no SDF’ to 'Sponsored’)</a:t>
                      </a:r>
                      <a:endParaRPr lang="en-US" sz="1100"/>
                    </a:p>
                    <a:p>
                      <a:pPr algn="l">
                        <a:lnSpc>
                          <a:spcPts val="1960"/>
                        </a:lnSpc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Converted ‘object’ to ‘string’</a:t>
                      </a:r>
                    </a:p>
                  </a:txBody>
                  <a:tcPr marL="76200" marR="76200" marT="76200" marB="7620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Box 4"/>
          <p:cNvSpPr txBox="1"/>
          <p:nvPr/>
        </p:nvSpPr>
        <p:spPr>
          <a:xfrm>
            <a:off x="5212782" y="-47625"/>
            <a:ext cx="7862435" cy="276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5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Official (Closed), Sensitive (Normal)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028695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SG"/>
          </a:p>
        </p:txBody>
      </p:sp>
      <p:sp>
        <p:nvSpPr>
          <p:cNvPr id="3" name="Freeform 3"/>
          <p:cNvSpPr/>
          <p:nvPr/>
        </p:nvSpPr>
        <p:spPr>
          <a:xfrm>
            <a:off x="182255" y="2745271"/>
            <a:ext cx="8961745" cy="4626501"/>
          </a:xfrm>
          <a:custGeom>
            <a:avLst/>
            <a:gdLst/>
            <a:ahLst/>
            <a:cxnLst/>
            <a:rect l="l" t="t" r="r" b="b"/>
            <a:pathLst>
              <a:path w="8961745" h="4626501">
                <a:moveTo>
                  <a:pt x="0" y="0"/>
                </a:moveTo>
                <a:lnTo>
                  <a:pt x="8961745" y="0"/>
                </a:lnTo>
                <a:lnTo>
                  <a:pt x="8961745" y="4626500"/>
                </a:lnTo>
                <a:lnTo>
                  <a:pt x="0" y="4626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4" name="Freeform 4"/>
          <p:cNvSpPr/>
          <p:nvPr/>
        </p:nvSpPr>
        <p:spPr>
          <a:xfrm>
            <a:off x="9144000" y="2830250"/>
            <a:ext cx="8904945" cy="4541522"/>
          </a:xfrm>
          <a:custGeom>
            <a:avLst/>
            <a:gdLst/>
            <a:ahLst/>
            <a:cxnLst/>
            <a:rect l="l" t="t" r="r" b="b"/>
            <a:pathLst>
              <a:path w="8904945" h="4541522">
                <a:moveTo>
                  <a:pt x="0" y="0"/>
                </a:moveTo>
                <a:lnTo>
                  <a:pt x="8904945" y="0"/>
                </a:lnTo>
                <a:lnTo>
                  <a:pt x="8904945" y="4541521"/>
                </a:lnTo>
                <a:lnTo>
                  <a:pt x="0" y="45415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5" name="TextBox 5"/>
          <p:cNvSpPr txBox="1"/>
          <p:nvPr/>
        </p:nvSpPr>
        <p:spPr>
          <a:xfrm>
            <a:off x="1028700" y="446589"/>
            <a:ext cx="16230600" cy="1087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40"/>
              </a:lnSpc>
              <a:spcBef>
                <a:spcPct val="0"/>
              </a:spcBef>
            </a:pPr>
            <a:r>
              <a:rPr lang="en-US" sz="6314" b="1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DASHBOARD TEMPLATE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212782" y="-47625"/>
            <a:ext cx="7862435" cy="276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5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Official (Closed), Sensitive (Normal)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028695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SG"/>
          </a:p>
        </p:txBody>
      </p:sp>
      <p:sp>
        <p:nvSpPr>
          <p:cNvPr id="3" name="Freeform 3"/>
          <p:cNvSpPr/>
          <p:nvPr/>
        </p:nvSpPr>
        <p:spPr>
          <a:xfrm>
            <a:off x="1028695" y="1899654"/>
            <a:ext cx="8456877" cy="4175583"/>
          </a:xfrm>
          <a:custGeom>
            <a:avLst/>
            <a:gdLst/>
            <a:ahLst/>
            <a:cxnLst/>
            <a:rect l="l" t="t" r="r" b="b"/>
            <a:pathLst>
              <a:path w="8456877" h="4175583">
                <a:moveTo>
                  <a:pt x="0" y="0"/>
                </a:moveTo>
                <a:lnTo>
                  <a:pt x="8456877" y="0"/>
                </a:lnTo>
                <a:lnTo>
                  <a:pt x="8456877" y="4175583"/>
                </a:lnTo>
                <a:lnTo>
                  <a:pt x="0" y="41755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4" name="Freeform 4"/>
          <p:cNvSpPr/>
          <p:nvPr/>
        </p:nvSpPr>
        <p:spPr>
          <a:xfrm>
            <a:off x="1028695" y="6075237"/>
            <a:ext cx="5879682" cy="4025798"/>
          </a:xfrm>
          <a:custGeom>
            <a:avLst/>
            <a:gdLst/>
            <a:ahLst/>
            <a:cxnLst/>
            <a:rect l="l" t="t" r="r" b="b"/>
            <a:pathLst>
              <a:path w="5879682" h="4025798">
                <a:moveTo>
                  <a:pt x="0" y="0"/>
                </a:moveTo>
                <a:lnTo>
                  <a:pt x="5879682" y="0"/>
                </a:lnTo>
                <a:lnTo>
                  <a:pt x="5879682" y="4025799"/>
                </a:lnTo>
                <a:lnTo>
                  <a:pt x="0" y="40257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5" name="TextBox 5"/>
          <p:cNvSpPr txBox="1"/>
          <p:nvPr/>
        </p:nvSpPr>
        <p:spPr>
          <a:xfrm>
            <a:off x="1028700" y="446589"/>
            <a:ext cx="16230600" cy="1087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40"/>
              </a:lnSpc>
              <a:spcBef>
                <a:spcPct val="0"/>
              </a:spcBef>
            </a:pPr>
            <a:r>
              <a:rPr lang="en-US" sz="6314" b="1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KUN MING CHART INSIGHTS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685672" y="1761170"/>
            <a:ext cx="8602328" cy="4201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86"/>
              </a:lnSpc>
            </a:pPr>
            <a:r>
              <a:rPr lang="en-US" sz="1847" b="1" spc="9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A1: Risk Map – GPA vs Attendance</a:t>
            </a:r>
          </a:p>
          <a:p>
            <a:pPr marL="398828" lvl="1" indent="-199414" algn="ctr">
              <a:lnSpc>
                <a:spcPts val="2586"/>
              </a:lnSpc>
              <a:buFont typeface="Arial"/>
              <a:buChar char="•"/>
            </a:pPr>
            <a:r>
              <a:rPr lang="en-US" sz="1847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Attendance and GPA show a moder</a:t>
            </a:r>
            <a:r>
              <a:rPr lang="en-US" sz="1847" u="none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a</a:t>
            </a:r>
            <a:r>
              <a:rPr lang="en-US" sz="1847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te positiv</a:t>
            </a:r>
            <a:r>
              <a:rPr lang="en-US" sz="1847" u="none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e</a:t>
            </a:r>
            <a:r>
              <a:rPr lang="en-US" sz="1847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relati</a:t>
            </a:r>
            <a:r>
              <a:rPr lang="en-US" sz="1847" u="none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onship (r ≈ 0.42), b</a:t>
            </a:r>
            <a:r>
              <a:rPr lang="en-US" sz="1847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ut attendance al</a:t>
            </a:r>
            <a:r>
              <a:rPr lang="en-US" sz="1847" u="none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one</a:t>
            </a:r>
            <a:r>
              <a:rPr lang="en-US" sz="1847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does not </a:t>
            </a:r>
            <a:r>
              <a:rPr lang="en-US" sz="1847" u="none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expla</a:t>
            </a:r>
            <a:r>
              <a:rPr lang="en-US" sz="1847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i</a:t>
            </a:r>
            <a:r>
              <a:rPr lang="en-US" sz="1847" u="none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n</a:t>
            </a:r>
            <a:r>
              <a:rPr lang="en-US" sz="1847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performance</a:t>
            </a:r>
            <a:r>
              <a:rPr lang="en-US" sz="1847" u="none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.</a:t>
            </a:r>
          </a:p>
          <a:p>
            <a:pPr marL="398828" lvl="1" indent="-199414" algn="ctr">
              <a:lnSpc>
                <a:spcPts val="2586"/>
              </a:lnSpc>
              <a:buFont typeface="Arial"/>
              <a:buChar char="•"/>
            </a:pPr>
            <a:r>
              <a:rPr lang="en-US" sz="1847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L</a:t>
            </a:r>
            <a:r>
              <a:rPr lang="en-US" sz="1847" u="none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ow-ri</a:t>
            </a:r>
            <a:r>
              <a:rPr lang="en-US" sz="1847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sk stu</a:t>
            </a:r>
            <a:r>
              <a:rPr lang="en-US" sz="1847" u="none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dents cluster at</a:t>
            </a:r>
            <a:r>
              <a:rPr lang="en-US" sz="1847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high attendance and h</a:t>
            </a:r>
            <a:r>
              <a:rPr lang="en-US" sz="1847" u="none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i</a:t>
            </a:r>
            <a:r>
              <a:rPr lang="en-US" sz="1847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gh GPA, showing effec</a:t>
            </a:r>
            <a:r>
              <a:rPr lang="en-US" sz="1847" u="none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t</a:t>
            </a:r>
            <a:r>
              <a:rPr lang="en-US" sz="1847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ive conv</a:t>
            </a:r>
            <a:r>
              <a:rPr lang="en-US" sz="1847" u="none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e</a:t>
            </a:r>
            <a:r>
              <a:rPr lang="en-US" sz="1847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r</a:t>
            </a:r>
            <a:r>
              <a:rPr lang="en-US" sz="1847" u="none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</a:t>
            </a:r>
            <a:r>
              <a:rPr lang="en-US" sz="1847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i</a:t>
            </a:r>
            <a:r>
              <a:rPr lang="en-US" sz="1847" u="none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on of engagement into result</a:t>
            </a:r>
            <a:r>
              <a:rPr lang="en-US" sz="1847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</a:t>
            </a:r>
            <a:r>
              <a:rPr lang="en-US" sz="1847" u="none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.</a:t>
            </a:r>
          </a:p>
          <a:p>
            <a:pPr marL="398828" lvl="1" indent="-199414" algn="ctr">
              <a:lnSpc>
                <a:spcPts val="2586"/>
              </a:lnSpc>
              <a:buFont typeface="Arial"/>
              <a:buChar char="•"/>
            </a:pPr>
            <a:r>
              <a:rPr lang="en-US" sz="1847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High-risk stud</a:t>
            </a:r>
            <a:r>
              <a:rPr lang="en-US" sz="1847" u="none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ent</a:t>
            </a:r>
            <a:r>
              <a:rPr lang="en-US" sz="1847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 include not only l</a:t>
            </a:r>
            <a:r>
              <a:rPr lang="en-US" sz="1847" u="none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ow-attenda</a:t>
            </a:r>
            <a:r>
              <a:rPr lang="en-US" sz="1847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nce cases, but als</a:t>
            </a:r>
            <a:r>
              <a:rPr lang="en-US" sz="1847" u="none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o stude</a:t>
            </a:r>
            <a:r>
              <a:rPr lang="en-US" sz="1847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nts with adequat</a:t>
            </a:r>
            <a:r>
              <a:rPr lang="en-US" sz="1847" u="none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e</a:t>
            </a:r>
            <a:r>
              <a:rPr lang="en-US" sz="1847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attendance yet low GPA, indicating hidden academic risk.</a:t>
            </a:r>
          </a:p>
          <a:p>
            <a:pPr marL="398828" lvl="1" indent="-199414" algn="ctr">
              <a:lnSpc>
                <a:spcPts val="2586"/>
              </a:lnSpc>
              <a:buFont typeface="Arial"/>
              <a:buChar char="•"/>
            </a:pPr>
            <a:r>
              <a:rPr lang="en-US" sz="1847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Medium-risk students form a broad middle band and represent the best group for early intervention.</a:t>
            </a:r>
          </a:p>
          <a:p>
            <a:pPr algn="ctr">
              <a:lnSpc>
                <a:spcPts val="2586"/>
              </a:lnSpc>
            </a:pPr>
            <a:r>
              <a:rPr lang="en-US" sz="1847" b="1" spc="9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Takeaway:</a:t>
            </a:r>
          </a:p>
          <a:p>
            <a:pPr marL="398828" lvl="1" indent="-199414" algn="ctr">
              <a:lnSpc>
                <a:spcPts val="2586"/>
              </a:lnSpc>
              <a:buFont typeface="Arial"/>
              <a:buChar char="•"/>
            </a:pPr>
            <a:r>
              <a:rPr lang="en-US" sz="1847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Attendance is a useful filter, but GPA must be monitored even when attendance is acceptable to avoid missing at-risk students.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935009" y="6122862"/>
            <a:ext cx="9911876" cy="4263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34"/>
              </a:lnSpc>
            </a:pPr>
            <a:r>
              <a:rPr lang="en-US" sz="2024" b="1" spc="1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A2: Risk Concentration – Cohort Sunburst</a:t>
            </a:r>
          </a:p>
          <a:p>
            <a:pPr marL="437160" lvl="1" indent="-218580" algn="ctr">
              <a:lnSpc>
                <a:spcPts val="2834"/>
              </a:lnSpc>
              <a:buFont typeface="Arial"/>
              <a:buChar char="•"/>
            </a:pPr>
            <a:r>
              <a:rPr lang="en-US" sz="202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Academic risk is unevenly concentr</a:t>
            </a:r>
            <a:r>
              <a:rPr lang="en-US" sz="2024" u="none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a</a:t>
            </a:r>
            <a:r>
              <a:rPr lang="en-US" sz="202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ted in specific cohort combinati</a:t>
            </a:r>
            <a:r>
              <a:rPr lang="en-US" sz="2024" u="none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ons r</a:t>
            </a:r>
            <a:r>
              <a:rPr lang="en-US" sz="202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ather than </a:t>
            </a:r>
            <a:r>
              <a:rPr lang="en-US" sz="2024" u="none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ev</a:t>
            </a:r>
            <a:r>
              <a:rPr lang="en-US" sz="202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en</a:t>
            </a:r>
            <a:r>
              <a:rPr lang="en-US" sz="2024" u="none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ly</a:t>
            </a:r>
            <a:r>
              <a:rPr lang="en-US" sz="202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spread</a:t>
            </a:r>
            <a:r>
              <a:rPr lang="en-US" sz="2024" u="none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.</a:t>
            </a:r>
          </a:p>
          <a:p>
            <a:pPr marL="437160" lvl="1" indent="-218580" algn="ctr">
              <a:lnSpc>
                <a:spcPts val="2834"/>
              </a:lnSpc>
              <a:buFont typeface="Arial"/>
              <a:buChar char="•"/>
            </a:pPr>
            <a:r>
              <a:rPr lang="en-US" sz="202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Pa</a:t>
            </a:r>
            <a:r>
              <a:rPr lang="en-US" sz="2024" u="none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r</a:t>
            </a:r>
            <a:r>
              <a:rPr lang="en-US" sz="202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t-tim</a:t>
            </a:r>
            <a:r>
              <a:rPr lang="en-US" sz="2024" u="none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e pathways appear more frequently</a:t>
            </a:r>
            <a:r>
              <a:rPr lang="en-US" sz="202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in medium- and h</a:t>
            </a:r>
            <a:r>
              <a:rPr lang="en-US" sz="2024" u="none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i</a:t>
            </a:r>
            <a:r>
              <a:rPr lang="en-US" sz="202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gh-risk segments, suggesting struc</a:t>
            </a:r>
            <a:r>
              <a:rPr lang="en-US" sz="2024" u="none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tural</a:t>
            </a:r>
            <a:r>
              <a:rPr lang="en-US" sz="202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con</a:t>
            </a:r>
            <a:r>
              <a:rPr lang="en-US" sz="2024" u="none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straint</a:t>
            </a:r>
            <a:r>
              <a:rPr lang="en-US" sz="202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</a:t>
            </a:r>
            <a:r>
              <a:rPr lang="en-US" sz="2024" u="none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.</a:t>
            </a:r>
          </a:p>
          <a:p>
            <a:pPr marL="437160" lvl="1" indent="-218580" algn="ctr">
              <a:lnSpc>
                <a:spcPts val="2834"/>
              </a:lnSpc>
              <a:buFont typeface="Arial"/>
              <a:buChar char="•"/>
            </a:pPr>
            <a:r>
              <a:rPr lang="en-US" sz="202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Risk increas</a:t>
            </a:r>
            <a:r>
              <a:rPr lang="en-US" sz="2024" u="none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e</a:t>
            </a:r>
            <a:r>
              <a:rPr lang="en-US" sz="202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 through interactions be</a:t>
            </a:r>
            <a:r>
              <a:rPr lang="en-US" sz="2024" u="none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tween qualifi</a:t>
            </a:r>
            <a:r>
              <a:rPr lang="en-US" sz="202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cation level,</a:t>
            </a:r>
            <a:r>
              <a:rPr lang="en-US" sz="2024" u="none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study mode,</a:t>
            </a:r>
            <a:r>
              <a:rPr lang="en-US" sz="202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and residency, not single factors.</a:t>
            </a:r>
          </a:p>
          <a:p>
            <a:pPr marL="437160" lvl="1" indent="-218580" algn="ctr">
              <a:lnSpc>
                <a:spcPts val="2834"/>
              </a:lnSpc>
              <a:buFont typeface="Arial"/>
              <a:buChar char="•"/>
            </a:pPr>
            <a:r>
              <a:rPr lang="en-US" sz="202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Medium-risk cohorts dominate several pathways, offering strong prevention leverage.</a:t>
            </a:r>
          </a:p>
          <a:p>
            <a:pPr algn="ctr">
              <a:lnSpc>
                <a:spcPts val="2834"/>
              </a:lnSpc>
            </a:pPr>
            <a:r>
              <a:rPr lang="en-US" sz="2024" b="1" spc="1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Takeaway:</a:t>
            </a:r>
          </a:p>
          <a:p>
            <a:pPr marL="437160" lvl="1" indent="-218580" algn="ctr">
              <a:lnSpc>
                <a:spcPts val="2834"/>
              </a:lnSpc>
              <a:buFont typeface="Arial"/>
              <a:buChar char="•"/>
            </a:pPr>
            <a:r>
              <a:rPr lang="en-US" sz="202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Target interventions at high-risk cohort intersections, not the entire student population, to maximise impact.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212782" y="-47625"/>
            <a:ext cx="7862435" cy="276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5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Official (Closed), Sensitive (Normal)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028695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SG"/>
          </a:p>
        </p:txBody>
      </p:sp>
      <p:sp>
        <p:nvSpPr>
          <p:cNvPr id="3" name="Freeform 3"/>
          <p:cNvSpPr/>
          <p:nvPr/>
        </p:nvSpPr>
        <p:spPr>
          <a:xfrm>
            <a:off x="11301259" y="2023107"/>
            <a:ext cx="6395427" cy="3685365"/>
          </a:xfrm>
          <a:custGeom>
            <a:avLst/>
            <a:gdLst/>
            <a:ahLst/>
            <a:cxnLst/>
            <a:rect l="l" t="t" r="r" b="b"/>
            <a:pathLst>
              <a:path w="6395427" h="3685365">
                <a:moveTo>
                  <a:pt x="0" y="0"/>
                </a:moveTo>
                <a:lnTo>
                  <a:pt x="6395427" y="0"/>
                </a:lnTo>
                <a:lnTo>
                  <a:pt x="6395427" y="3685365"/>
                </a:lnTo>
                <a:lnTo>
                  <a:pt x="0" y="36853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4" name="Freeform 4"/>
          <p:cNvSpPr/>
          <p:nvPr/>
        </p:nvSpPr>
        <p:spPr>
          <a:xfrm>
            <a:off x="0" y="2023107"/>
            <a:ext cx="11301259" cy="3249112"/>
          </a:xfrm>
          <a:custGeom>
            <a:avLst/>
            <a:gdLst/>
            <a:ahLst/>
            <a:cxnLst/>
            <a:rect l="l" t="t" r="r" b="b"/>
            <a:pathLst>
              <a:path w="11301259" h="3249112">
                <a:moveTo>
                  <a:pt x="0" y="0"/>
                </a:moveTo>
                <a:lnTo>
                  <a:pt x="11301259" y="0"/>
                </a:lnTo>
                <a:lnTo>
                  <a:pt x="11301259" y="3249112"/>
                </a:lnTo>
                <a:lnTo>
                  <a:pt x="0" y="32491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5" name="TextBox 5"/>
          <p:cNvSpPr txBox="1"/>
          <p:nvPr/>
        </p:nvSpPr>
        <p:spPr>
          <a:xfrm>
            <a:off x="1028700" y="446589"/>
            <a:ext cx="16230600" cy="1087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40"/>
              </a:lnSpc>
              <a:spcBef>
                <a:spcPct val="0"/>
              </a:spcBef>
            </a:pPr>
            <a:r>
              <a:rPr lang="en-US" sz="6314" b="1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KUN MING CHART INSIGHTS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86710" y="5404616"/>
            <a:ext cx="7930180" cy="4451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0"/>
              </a:lnSpc>
            </a:pPr>
            <a:r>
              <a:rPr lang="en-US" sz="2114" b="1" spc="1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A3: Risk Flow – Semester Tr</a:t>
            </a:r>
            <a:r>
              <a:rPr lang="en-US" sz="2114" b="1" u="none" spc="1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ansi</a:t>
            </a:r>
            <a:r>
              <a:rPr lang="en-US" sz="2114" b="1" spc="1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tions</a:t>
            </a:r>
          </a:p>
          <a:p>
            <a:pPr marL="456616" lvl="1" indent="-228308" algn="ctr">
              <a:lnSpc>
                <a:spcPts val="2960"/>
              </a:lnSpc>
              <a:buFont typeface="Arial"/>
              <a:buChar char="•"/>
            </a:pPr>
            <a:r>
              <a:rPr lang="en-US" sz="211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Most students remain i</a:t>
            </a:r>
            <a:r>
              <a:rPr lang="en-US" sz="2114" u="none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n </a:t>
            </a:r>
            <a:r>
              <a:rPr lang="en-US" sz="211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the same risk ti</a:t>
            </a:r>
            <a:r>
              <a:rPr lang="en-US" sz="2114" u="none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er across semesters, showing strong</a:t>
            </a:r>
            <a:r>
              <a:rPr lang="en-US" sz="211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risk persistence.</a:t>
            </a:r>
          </a:p>
          <a:p>
            <a:pPr marL="456616" lvl="1" indent="-228308" algn="ctr">
              <a:lnSpc>
                <a:spcPts val="2960"/>
              </a:lnSpc>
              <a:buFont typeface="Arial"/>
              <a:buChar char="•"/>
            </a:pPr>
            <a:r>
              <a:rPr lang="en-US" sz="211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H</a:t>
            </a:r>
            <a:r>
              <a:rPr lang="en-US" sz="2114" u="none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i</a:t>
            </a:r>
            <a:r>
              <a:rPr lang="en-US" sz="211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gh-risk students rarely transition direc</a:t>
            </a:r>
            <a:r>
              <a:rPr lang="en-US" sz="2114" u="none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tly to</a:t>
            </a:r>
            <a:r>
              <a:rPr lang="en-US" sz="211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low </a:t>
            </a:r>
            <a:r>
              <a:rPr lang="en-US" sz="2114" u="none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r</a:t>
            </a:r>
            <a:r>
              <a:rPr lang="en-US" sz="211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isk, indicating recov</a:t>
            </a:r>
            <a:r>
              <a:rPr lang="en-US" sz="2114" u="none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ery i</a:t>
            </a:r>
            <a:r>
              <a:rPr lang="en-US" sz="211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 gradual.</a:t>
            </a:r>
          </a:p>
          <a:p>
            <a:pPr marL="456616" lvl="1" indent="-228308" algn="ctr">
              <a:lnSpc>
                <a:spcPts val="2960"/>
              </a:lnSpc>
              <a:buFont typeface="Arial"/>
              <a:buChar char="•"/>
            </a:pPr>
            <a:r>
              <a:rPr lang="en-US" sz="211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Medium risk acts as a</a:t>
            </a:r>
            <a:r>
              <a:rPr lang="en-US" sz="2114" u="none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transi</a:t>
            </a:r>
            <a:r>
              <a:rPr lang="en-US" sz="211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tion state,</a:t>
            </a:r>
            <a:r>
              <a:rPr lang="en-US" sz="2114" u="none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with movement both upward</a:t>
            </a:r>
            <a:r>
              <a:rPr lang="en-US" sz="211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and downward.</a:t>
            </a:r>
          </a:p>
          <a:p>
            <a:pPr marL="456616" lvl="1" indent="-228308" algn="ctr">
              <a:lnSpc>
                <a:spcPts val="2960"/>
              </a:lnSpc>
              <a:buFont typeface="Arial"/>
              <a:buChar char="•"/>
            </a:pPr>
            <a:r>
              <a:rPr lang="en-US" sz="211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Small but visible escalation into high risk suggests missed early intervention windows.</a:t>
            </a:r>
          </a:p>
          <a:p>
            <a:pPr algn="ctr">
              <a:lnSpc>
                <a:spcPts val="2960"/>
              </a:lnSpc>
            </a:pPr>
            <a:r>
              <a:rPr lang="en-US" sz="2114" b="1" spc="1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Takeaway:</a:t>
            </a:r>
          </a:p>
          <a:p>
            <a:pPr marL="456616" lvl="1" indent="-228308" algn="ctr">
              <a:lnSpc>
                <a:spcPts val="2960"/>
              </a:lnSpc>
              <a:buFont typeface="Arial"/>
              <a:buChar char="•"/>
            </a:pPr>
            <a:r>
              <a:rPr lang="en-US" sz="211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Early action in Semester 1–2 is critical to prevent long-term entrenchment in high risk.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468134" y="5835394"/>
            <a:ext cx="7930180" cy="4451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0"/>
              </a:lnSpc>
            </a:pPr>
            <a:r>
              <a:rPr lang="en-US" sz="2114" b="1" spc="1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A4: Risk Hotspots – Course</a:t>
            </a:r>
            <a:r>
              <a:rPr lang="en-US" sz="2114" b="1" u="none" spc="1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</a:t>
            </a:r>
          </a:p>
          <a:p>
            <a:pPr marL="456616" lvl="1" indent="-228308" algn="ctr">
              <a:lnSpc>
                <a:spcPts val="2960"/>
              </a:lnSpc>
              <a:buFont typeface="Arial"/>
              <a:buChar char="•"/>
            </a:pPr>
            <a:r>
              <a:rPr lang="en-US" sz="2114" u="none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Risk </a:t>
            </a:r>
            <a:r>
              <a:rPr lang="en-US" sz="211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is concentrated i</a:t>
            </a:r>
            <a:r>
              <a:rPr lang="en-US" sz="2114" u="none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n </a:t>
            </a:r>
            <a:r>
              <a:rPr lang="en-US" sz="211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specific</a:t>
            </a:r>
            <a:r>
              <a:rPr lang="en-US" sz="2114" u="none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courses, not evenly distributed.</a:t>
            </a:r>
          </a:p>
          <a:p>
            <a:pPr marL="456616" lvl="1" indent="-228308" algn="ctr">
              <a:lnSpc>
                <a:spcPts val="2960"/>
              </a:lnSpc>
              <a:buFont typeface="Arial"/>
              <a:buChar char="•"/>
            </a:pPr>
            <a:r>
              <a:rPr lang="en-US" sz="2114" u="none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Several programmes show large</a:t>
            </a:r>
            <a:r>
              <a:rPr lang="en-US" sz="211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medium-risk proportions, signalling vulnerability rather than failure.</a:t>
            </a:r>
          </a:p>
          <a:p>
            <a:pPr marL="456616" lvl="1" indent="-228308" algn="ctr">
              <a:lnSpc>
                <a:spcPts val="2960"/>
              </a:lnSpc>
              <a:buFont typeface="Arial"/>
              <a:buChar char="•"/>
            </a:pPr>
            <a:r>
              <a:rPr lang="en-US" sz="211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H</a:t>
            </a:r>
            <a:r>
              <a:rPr lang="en-US" sz="2114" u="none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i</a:t>
            </a:r>
            <a:r>
              <a:rPr lang="en-US" sz="211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gh-risk percentages var</a:t>
            </a:r>
            <a:r>
              <a:rPr lang="en-US" sz="2114" u="none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y by</a:t>
            </a:r>
            <a:r>
              <a:rPr lang="en-US" sz="211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cou</a:t>
            </a:r>
            <a:r>
              <a:rPr lang="en-US" sz="2114" u="none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r</a:t>
            </a:r>
            <a:r>
              <a:rPr lang="en-US" sz="211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se, indicating programme-level s</a:t>
            </a:r>
            <a:r>
              <a:rPr lang="en-US" sz="2114" u="none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truc</a:t>
            </a:r>
            <a:r>
              <a:rPr lang="en-US" sz="211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tural</a:t>
            </a:r>
            <a:r>
              <a:rPr lang="en-US" sz="2114" u="none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effects.</a:t>
            </a:r>
          </a:p>
          <a:p>
            <a:pPr marL="456616" lvl="1" indent="-228308" algn="ctr">
              <a:lnSpc>
                <a:spcPts val="2960"/>
              </a:lnSpc>
              <a:buFont typeface="Arial"/>
              <a:buChar char="•"/>
            </a:pPr>
            <a:r>
              <a:rPr lang="en-US" sz="2114" u="none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Low-risk</a:t>
            </a:r>
            <a:r>
              <a:rPr lang="en-US" sz="211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dominance in some courses suggests transferable best practices.</a:t>
            </a:r>
          </a:p>
          <a:p>
            <a:pPr algn="ctr">
              <a:lnSpc>
                <a:spcPts val="2960"/>
              </a:lnSpc>
            </a:pPr>
            <a:r>
              <a:rPr lang="en-US" sz="2114" b="1" spc="1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Takeaway:</a:t>
            </a:r>
          </a:p>
          <a:p>
            <a:pPr marL="456616" lvl="1" indent="-228308" algn="ctr">
              <a:lnSpc>
                <a:spcPts val="2960"/>
              </a:lnSpc>
              <a:buFont typeface="Arial"/>
              <a:buChar char="•"/>
            </a:pPr>
            <a:r>
              <a:rPr lang="en-US" sz="2114" b="1" spc="1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</a:t>
            </a:r>
            <a:r>
              <a:rPr lang="en-US" sz="211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Prioritise course-level interventions, starting with programmes where medium and high risk dominate.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212782" y="-47625"/>
            <a:ext cx="7862435" cy="276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5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Official (Closed), Sensitive (Normal)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028695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SG"/>
          </a:p>
        </p:txBody>
      </p:sp>
      <p:sp>
        <p:nvSpPr>
          <p:cNvPr id="3" name="Freeform 3"/>
          <p:cNvSpPr/>
          <p:nvPr/>
        </p:nvSpPr>
        <p:spPr>
          <a:xfrm>
            <a:off x="0" y="2412110"/>
            <a:ext cx="10581656" cy="5462780"/>
          </a:xfrm>
          <a:custGeom>
            <a:avLst/>
            <a:gdLst/>
            <a:ahLst/>
            <a:cxnLst/>
            <a:rect l="l" t="t" r="r" b="b"/>
            <a:pathLst>
              <a:path w="10581656" h="5462780">
                <a:moveTo>
                  <a:pt x="0" y="0"/>
                </a:moveTo>
                <a:lnTo>
                  <a:pt x="10581656" y="0"/>
                </a:lnTo>
                <a:lnTo>
                  <a:pt x="10581656" y="5462780"/>
                </a:lnTo>
                <a:lnTo>
                  <a:pt x="0" y="54627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4" name="TextBox 4"/>
          <p:cNvSpPr txBox="1"/>
          <p:nvPr/>
        </p:nvSpPr>
        <p:spPr>
          <a:xfrm>
            <a:off x="1028700" y="446589"/>
            <a:ext cx="16230600" cy="1087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40"/>
              </a:lnSpc>
              <a:spcBef>
                <a:spcPct val="0"/>
              </a:spcBef>
            </a:pPr>
            <a:r>
              <a:rPr lang="en-US" sz="6314" b="1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KUN MING DASHBOARD INSIGHTS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774861" y="2364485"/>
            <a:ext cx="7067348" cy="7283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6934" lvl="1" indent="-203467" algn="ctr">
              <a:lnSpc>
                <a:spcPts val="2638"/>
              </a:lnSpc>
              <a:buFont typeface="Arial"/>
              <a:buChar char="•"/>
            </a:pPr>
            <a:r>
              <a:rPr lang="en-US" sz="1884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Across the dashboard, a consistent pattern emerges: academic risk is drive</a:t>
            </a:r>
            <a:r>
              <a:rPr lang="en-US" sz="1884" u="none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n by the interac</a:t>
            </a:r>
            <a:r>
              <a:rPr lang="en-US" sz="1884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tion of performance, engagement, background factors, and time, rather than any si</a:t>
            </a:r>
            <a:r>
              <a:rPr lang="en-US" sz="1884" u="none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ngle variable.</a:t>
            </a:r>
          </a:p>
          <a:p>
            <a:pPr marL="406934" lvl="1" indent="-203467" algn="ctr">
              <a:lnSpc>
                <a:spcPts val="2638"/>
              </a:lnSpc>
              <a:buFont typeface="Arial"/>
              <a:buChar char="•"/>
            </a:pPr>
            <a:r>
              <a:rPr lang="en-US" sz="1884" u="none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W</a:t>
            </a:r>
            <a:r>
              <a:rPr lang="en-US" sz="1884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hile attendance is positiv</a:t>
            </a:r>
            <a:r>
              <a:rPr lang="en-US" sz="1884" u="none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ely associated with GPA, multiple charts show that attendance alone does not guarantee good outcomes,</a:t>
            </a:r>
            <a:r>
              <a:rPr lang="en-US" sz="1884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revealing a group of students with hidden academic risk.</a:t>
            </a:r>
          </a:p>
          <a:p>
            <a:pPr marL="406934" lvl="1" indent="-203467" algn="ctr">
              <a:lnSpc>
                <a:spcPts val="2638"/>
              </a:lnSpc>
              <a:buFont typeface="Arial"/>
              <a:buChar char="•"/>
            </a:pPr>
            <a:r>
              <a:rPr lang="en-US" sz="1884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Risk trajectories are sticky across semesters—students who enter medium</a:t>
            </a:r>
            <a:r>
              <a:rPr lang="en-US" sz="1884" u="none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or</a:t>
            </a:r>
            <a:r>
              <a:rPr lang="en-US" sz="1884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high </a:t>
            </a:r>
            <a:r>
              <a:rPr lang="en-US" sz="1884" u="none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r</a:t>
            </a:r>
            <a:r>
              <a:rPr lang="en-US" sz="1884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isk tend to remain there, indicating that delayed intervention reduces recov</a:t>
            </a:r>
            <a:r>
              <a:rPr lang="en-US" sz="1884" u="none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ery potenti</a:t>
            </a:r>
            <a:r>
              <a:rPr lang="en-US" sz="1884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al.</a:t>
            </a:r>
          </a:p>
          <a:p>
            <a:pPr marL="406934" lvl="1" indent="-203467" algn="ctr">
              <a:lnSpc>
                <a:spcPts val="2638"/>
              </a:lnSpc>
              <a:buFont typeface="Arial"/>
              <a:buChar char="•"/>
            </a:pPr>
            <a:r>
              <a:rPr lang="en-US" sz="1884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Risk is unevenly distributed across cohorts and courses, suggesting that</a:t>
            </a:r>
            <a:r>
              <a:rPr lang="en-US" sz="1884" u="none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structural and c</a:t>
            </a:r>
            <a:r>
              <a:rPr lang="en-US" sz="1884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ontextual factors (e.g.</a:t>
            </a:r>
            <a:r>
              <a:rPr lang="en-US" sz="1884" u="none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study mode, course design)</a:t>
            </a:r>
            <a:r>
              <a:rPr lang="en-US" sz="1884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amplify individual risk.</a:t>
            </a:r>
          </a:p>
          <a:p>
            <a:pPr marL="406934" lvl="1" indent="-203467" algn="ctr">
              <a:lnSpc>
                <a:spcPts val="2638"/>
              </a:lnSpc>
              <a:buFont typeface="Arial"/>
              <a:buChar char="•"/>
            </a:pPr>
            <a:r>
              <a:rPr lang="en-US" sz="1884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Medium-risk students appear consistently as a transition group, representing the strongest opportunity for early, preventative support.</a:t>
            </a:r>
          </a:p>
          <a:p>
            <a:pPr marL="406934" lvl="1" indent="-203467" algn="ctr">
              <a:lnSpc>
                <a:spcPts val="2638"/>
              </a:lnSpc>
              <a:buFont typeface="Arial"/>
              <a:buChar char="•"/>
            </a:pPr>
            <a:r>
              <a:rPr lang="en-US" sz="1884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Overall, the dashboard highlights that effective risk management requires early, targeted, and cohort-aware interventions, rather than broad, attendance-focused monitoring.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212782" y="-47625"/>
            <a:ext cx="7862435" cy="276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5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Official (Closed), Sensitive (Normal)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028695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SG"/>
          </a:p>
        </p:txBody>
      </p:sp>
      <p:sp>
        <p:nvSpPr>
          <p:cNvPr id="3" name="TextBox 3"/>
          <p:cNvSpPr txBox="1"/>
          <p:nvPr/>
        </p:nvSpPr>
        <p:spPr>
          <a:xfrm>
            <a:off x="1028700" y="446589"/>
            <a:ext cx="16230600" cy="1087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40"/>
              </a:lnSpc>
              <a:spcBef>
                <a:spcPct val="0"/>
              </a:spcBef>
            </a:pPr>
            <a:r>
              <a:rPr lang="en-US" sz="6314" b="1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KUN MING RECOMMENDATIONS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86710" y="2364327"/>
            <a:ext cx="17701290" cy="6616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99"/>
              </a:lnSpc>
            </a:pPr>
            <a:r>
              <a:rPr lang="en-US" sz="3142" b="1" spc="15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1) High effort but low GPA (Hidden risk)</a:t>
            </a:r>
          </a:p>
          <a:p>
            <a:pPr marL="678485" lvl="1" indent="-339243" algn="ctr">
              <a:lnSpc>
                <a:spcPts val="4399"/>
              </a:lnSpc>
              <a:buFont typeface="Arial"/>
              <a:buChar char="•"/>
            </a:pPr>
            <a:r>
              <a:rPr lang="en-US" sz="3142" spc="15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Run</a:t>
            </a:r>
            <a:r>
              <a:rPr lang="en-US" sz="3142" u="none" spc="15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targeted study-skills workshops (active recall, assessment strategies) and offer short academic consultations</a:t>
            </a:r>
            <a:r>
              <a:rPr lang="en-US" sz="3142" spc="15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to diagnose learning gaps beyond attendance.</a:t>
            </a:r>
          </a:p>
          <a:p>
            <a:pPr algn="ctr">
              <a:lnSpc>
                <a:spcPts val="4399"/>
              </a:lnSpc>
            </a:pPr>
            <a:r>
              <a:rPr lang="en-US" sz="3142" b="1" spc="15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2) Med</a:t>
            </a:r>
            <a:r>
              <a:rPr lang="en-US" sz="3142" b="1" u="none" spc="15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ium</a:t>
            </a:r>
            <a:r>
              <a:rPr lang="en-US" sz="3142" b="1" spc="15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-risk students (Prevention focus)</a:t>
            </a:r>
          </a:p>
          <a:p>
            <a:pPr marL="678485" lvl="1" indent="-339243" algn="ctr">
              <a:lnSpc>
                <a:spcPts val="4399"/>
              </a:lnSpc>
              <a:buFont typeface="Arial"/>
              <a:buChar char="•"/>
            </a:pPr>
            <a:r>
              <a:rPr lang="en-US" sz="3142" u="none" spc="15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Intervene</a:t>
            </a:r>
            <a:r>
              <a:rPr lang="en-US" sz="3142" spc="15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early in Semester 1–2 with check-ins, peer mentoring, and light academic coaching befo</a:t>
            </a:r>
            <a:r>
              <a:rPr lang="en-US" sz="3142" u="none" spc="15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re ri</a:t>
            </a:r>
            <a:r>
              <a:rPr lang="en-US" sz="3142" spc="15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sk escalates.</a:t>
            </a:r>
          </a:p>
          <a:p>
            <a:pPr algn="ctr">
              <a:lnSpc>
                <a:spcPts val="4399"/>
              </a:lnSpc>
            </a:pPr>
            <a:r>
              <a:rPr lang="en-US" sz="3142" b="1" spc="15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3) Persistent risk across semesters</a:t>
            </a:r>
          </a:p>
          <a:p>
            <a:pPr marL="678485" lvl="1" indent="-339243" algn="ctr">
              <a:lnSpc>
                <a:spcPts val="4399"/>
              </a:lnSpc>
              <a:buFont typeface="Arial"/>
              <a:buChar char="•"/>
            </a:pPr>
            <a:r>
              <a:rPr lang="en-US" sz="3142" spc="15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Track ri</a:t>
            </a:r>
            <a:r>
              <a:rPr lang="en-US" sz="3142" u="none" spc="15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sk trajectories over tim</a:t>
            </a:r>
            <a:r>
              <a:rPr lang="en-US" sz="3142" spc="15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e and escalate</a:t>
            </a:r>
            <a:r>
              <a:rPr lang="en-US" sz="3142" u="none" spc="15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support for students who remain medium/high risk across multiple</a:t>
            </a:r>
            <a:r>
              <a:rPr lang="en-US" sz="3142" spc="15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semesters.</a:t>
            </a:r>
          </a:p>
          <a:p>
            <a:pPr algn="ctr">
              <a:lnSpc>
                <a:spcPts val="4399"/>
              </a:lnSpc>
            </a:pPr>
            <a:r>
              <a:rPr lang="en-US" sz="3142" b="1" spc="15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4) High-risk courses and constrained cohorts</a:t>
            </a:r>
          </a:p>
          <a:p>
            <a:pPr marL="678485" lvl="1" indent="-339243" algn="ctr">
              <a:lnSpc>
                <a:spcPts val="4399"/>
              </a:lnSpc>
              <a:buFont typeface="Arial"/>
              <a:buChar char="•"/>
            </a:pPr>
            <a:r>
              <a:rPr lang="en-US" sz="3142" spc="15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Prioritise course-level support (clearer rubrics, pacing review) and flexible, asynchronous help for part-time or higher-constraint students.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212782" y="-47625"/>
            <a:ext cx="7862435" cy="276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5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Official (Closed), Sensitive (Normal)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028695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SG"/>
          </a:p>
        </p:txBody>
      </p:sp>
      <p:sp>
        <p:nvSpPr>
          <p:cNvPr id="3" name="Freeform 3"/>
          <p:cNvSpPr/>
          <p:nvPr/>
        </p:nvSpPr>
        <p:spPr>
          <a:xfrm>
            <a:off x="682319" y="1799270"/>
            <a:ext cx="8461681" cy="4156801"/>
          </a:xfrm>
          <a:custGeom>
            <a:avLst/>
            <a:gdLst/>
            <a:ahLst/>
            <a:cxnLst/>
            <a:rect l="l" t="t" r="r" b="b"/>
            <a:pathLst>
              <a:path w="8461681" h="4156801">
                <a:moveTo>
                  <a:pt x="0" y="0"/>
                </a:moveTo>
                <a:lnTo>
                  <a:pt x="8461681" y="0"/>
                </a:lnTo>
                <a:lnTo>
                  <a:pt x="8461681" y="4156801"/>
                </a:lnTo>
                <a:lnTo>
                  <a:pt x="0" y="41568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4" name="Freeform 4"/>
          <p:cNvSpPr/>
          <p:nvPr/>
        </p:nvSpPr>
        <p:spPr>
          <a:xfrm>
            <a:off x="682319" y="5956071"/>
            <a:ext cx="7557377" cy="4392726"/>
          </a:xfrm>
          <a:custGeom>
            <a:avLst/>
            <a:gdLst/>
            <a:ahLst/>
            <a:cxnLst/>
            <a:rect l="l" t="t" r="r" b="b"/>
            <a:pathLst>
              <a:path w="7557377" h="4392726">
                <a:moveTo>
                  <a:pt x="0" y="0"/>
                </a:moveTo>
                <a:lnTo>
                  <a:pt x="7557377" y="0"/>
                </a:lnTo>
                <a:lnTo>
                  <a:pt x="7557377" y="4392725"/>
                </a:lnTo>
                <a:lnTo>
                  <a:pt x="0" y="43927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5" name="TextBox 5"/>
          <p:cNvSpPr txBox="1"/>
          <p:nvPr/>
        </p:nvSpPr>
        <p:spPr>
          <a:xfrm>
            <a:off x="1028700" y="446589"/>
            <a:ext cx="16230600" cy="1087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40"/>
              </a:lnSpc>
              <a:spcBef>
                <a:spcPct val="0"/>
              </a:spcBef>
            </a:pPr>
            <a:r>
              <a:rPr lang="en-US" sz="6314" b="1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JENSON CHART INSIGHTS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428740" y="1761170"/>
            <a:ext cx="8859260" cy="3992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3"/>
              </a:lnSpc>
            </a:pPr>
            <a:r>
              <a:rPr lang="en-US" sz="1902" b="1" spc="9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B1: Survey Drivers – Risk vs Dimension (Z-score Mean)</a:t>
            </a:r>
          </a:p>
          <a:p>
            <a:pPr marL="410740" lvl="1" indent="-205370" algn="ctr">
              <a:lnSpc>
                <a:spcPts val="2663"/>
              </a:lnSpc>
              <a:buFont typeface="Arial"/>
              <a:buChar char="•"/>
            </a:pPr>
            <a:r>
              <a:rPr lang="en-US" sz="1902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Self-study hours show the strong</a:t>
            </a:r>
            <a:r>
              <a:rPr lang="en-US" sz="1902" u="none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est</a:t>
            </a:r>
            <a:r>
              <a:rPr lang="en-US" sz="1902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separati</a:t>
            </a:r>
            <a:r>
              <a:rPr lang="en-US" sz="1902" u="none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on across risk</a:t>
            </a:r>
            <a:r>
              <a:rPr lang="en-US" sz="1902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levels, maki</a:t>
            </a:r>
            <a:r>
              <a:rPr lang="en-US" sz="1902" u="none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ng it the</a:t>
            </a:r>
            <a:r>
              <a:rPr lang="en-US" sz="1902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most influ</a:t>
            </a:r>
            <a:r>
              <a:rPr lang="en-US" sz="1902" u="none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ential and</a:t>
            </a:r>
            <a:r>
              <a:rPr lang="en-US" sz="1902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modifiable factor</a:t>
            </a:r>
            <a:r>
              <a:rPr lang="en-US" sz="1902" u="none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.</a:t>
            </a:r>
          </a:p>
          <a:p>
            <a:pPr marL="410740" lvl="1" indent="-205370" algn="ctr">
              <a:lnSpc>
                <a:spcPts val="2663"/>
              </a:lnSpc>
              <a:buFont typeface="Arial"/>
              <a:buChar char="•"/>
            </a:pPr>
            <a:r>
              <a:rPr lang="en-US" sz="1902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Pri</a:t>
            </a:r>
            <a:r>
              <a:rPr lang="en-US" sz="1902" u="none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or </a:t>
            </a:r>
            <a:r>
              <a:rPr lang="en-US" sz="1902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knowle</a:t>
            </a:r>
            <a:r>
              <a:rPr lang="en-US" sz="1902" u="none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dge and teac</a:t>
            </a:r>
            <a:r>
              <a:rPr lang="en-US" sz="1902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hing support decrease stead</a:t>
            </a:r>
            <a:r>
              <a:rPr lang="en-US" sz="1902" u="none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ily</a:t>
            </a:r>
            <a:r>
              <a:rPr lang="en-US" sz="1902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as risk increases, indica</a:t>
            </a:r>
            <a:r>
              <a:rPr lang="en-US" sz="1902" u="none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t</a:t>
            </a:r>
            <a:r>
              <a:rPr lang="en-US" sz="1902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ing foundati</a:t>
            </a:r>
            <a:r>
              <a:rPr lang="en-US" sz="1902" u="none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onal and instruct</a:t>
            </a:r>
            <a:r>
              <a:rPr lang="en-US" sz="1902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io</a:t>
            </a:r>
            <a:r>
              <a:rPr lang="en-US" sz="1902" u="none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nal</a:t>
            </a:r>
            <a:r>
              <a:rPr lang="en-US" sz="1902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alignment gaps.</a:t>
            </a:r>
          </a:p>
          <a:p>
            <a:pPr marL="410740" lvl="1" indent="-205370" algn="ctr">
              <a:lnSpc>
                <a:spcPts val="2663"/>
              </a:lnSpc>
              <a:buFont typeface="Arial"/>
              <a:buChar char="•"/>
            </a:pPr>
            <a:r>
              <a:rPr lang="en-US" sz="1902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Family </a:t>
            </a:r>
            <a:r>
              <a:rPr lang="en-US" sz="1902" u="none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and compa</a:t>
            </a:r>
            <a:r>
              <a:rPr lang="en-US" sz="1902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ny support sh</a:t>
            </a:r>
            <a:r>
              <a:rPr lang="en-US" sz="1902" u="none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ow weaker differe</a:t>
            </a:r>
            <a:r>
              <a:rPr lang="en-US" sz="1902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ntiation, sugg</a:t>
            </a:r>
            <a:r>
              <a:rPr lang="en-US" sz="1902" u="none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es</a:t>
            </a:r>
            <a:r>
              <a:rPr lang="en-US" sz="1902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ting they are less direct drivers of academic risk.</a:t>
            </a:r>
          </a:p>
          <a:p>
            <a:pPr marL="410740" lvl="1" indent="-205370" algn="ctr">
              <a:lnSpc>
                <a:spcPts val="2663"/>
              </a:lnSpc>
              <a:buFont typeface="Arial"/>
              <a:buChar char="•"/>
            </a:pPr>
            <a:r>
              <a:rPr lang="en-US" sz="1902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Overall, behavioural and academic factors dominate over external support factors.</a:t>
            </a:r>
          </a:p>
          <a:p>
            <a:pPr algn="ctr">
              <a:lnSpc>
                <a:spcPts val="2663"/>
              </a:lnSpc>
            </a:pPr>
            <a:r>
              <a:rPr lang="en-US" sz="1902" b="1" spc="9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Insight:</a:t>
            </a:r>
          </a:p>
          <a:p>
            <a:pPr algn="ctr">
              <a:lnSpc>
                <a:spcPts val="2663"/>
              </a:lnSpc>
            </a:pPr>
            <a:r>
              <a:rPr lang="en-US" sz="1902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Risk is primarily driven by study behaviour and academic preparedness, not access to support alone.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376124" y="6258192"/>
            <a:ext cx="9911876" cy="3520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34"/>
              </a:lnSpc>
            </a:pPr>
            <a:r>
              <a:rPr lang="en-US" sz="2024" b="1" spc="1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B3: Likert Profile – Prior Knowledge (Percent)</a:t>
            </a:r>
          </a:p>
          <a:p>
            <a:pPr marL="437160" lvl="1" indent="-218580" algn="ctr">
              <a:lnSpc>
                <a:spcPts val="2834"/>
              </a:lnSpc>
              <a:buFont typeface="Arial"/>
              <a:buChar char="•"/>
            </a:pPr>
            <a:r>
              <a:rPr lang="en-US" sz="202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High-risk students cluster in mid-t</a:t>
            </a:r>
            <a:r>
              <a:rPr lang="en-US" sz="2024" u="none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o-low agr</a:t>
            </a:r>
            <a:r>
              <a:rPr lang="en-US" sz="202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e</a:t>
            </a:r>
            <a:r>
              <a:rPr lang="en-US" sz="2024" u="none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em</a:t>
            </a:r>
            <a:r>
              <a:rPr lang="en-US" sz="202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ent responses, indicating</a:t>
            </a:r>
            <a:r>
              <a:rPr lang="en-US" sz="2024" u="none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weaker academic foundat</a:t>
            </a:r>
            <a:r>
              <a:rPr lang="en-US" sz="202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ions.</a:t>
            </a:r>
          </a:p>
          <a:p>
            <a:pPr marL="437160" lvl="1" indent="-218580" algn="ctr">
              <a:lnSpc>
                <a:spcPts val="2834"/>
              </a:lnSpc>
              <a:buFont typeface="Arial"/>
              <a:buChar char="•"/>
            </a:pPr>
            <a:r>
              <a:rPr lang="en-US" sz="202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Low-risk students show a higher concen</a:t>
            </a:r>
            <a:r>
              <a:rPr lang="en-US" sz="2024" u="none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trat</a:t>
            </a:r>
            <a:r>
              <a:rPr lang="en-US" sz="202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ion of strong agre</a:t>
            </a:r>
            <a:r>
              <a:rPr lang="en-US" sz="2024" u="none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ement, refle</a:t>
            </a:r>
            <a:r>
              <a:rPr lang="en-US" sz="202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cting c</a:t>
            </a:r>
            <a:r>
              <a:rPr lang="en-US" sz="2024" u="none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o</a:t>
            </a:r>
            <a:r>
              <a:rPr lang="en-US" sz="202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nfidence and preparedness.</a:t>
            </a:r>
          </a:p>
          <a:p>
            <a:pPr marL="437160" lvl="1" indent="-218580" algn="ctr">
              <a:lnSpc>
                <a:spcPts val="2834"/>
              </a:lnSpc>
              <a:buFont typeface="Arial"/>
              <a:buChar char="•"/>
            </a:pPr>
            <a:r>
              <a:rPr lang="en-US" sz="202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Medium-risk students sit between both groups, suggesting partial foundations and recovery potential.</a:t>
            </a:r>
          </a:p>
          <a:p>
            <a:pPr algn="ctr">
              <a:lnSpc>
                <a:spcPts val="2834"/>
              </a:lnSpc>
            </a:pPr>
            <a:r>
              <a:rPr lang="en-US" sz="2024" b="1" spc="1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Insight:</a:t>
            </a:r>
          </a:p>
          <a:p>
            <a:pPr algn="ctr">
              <a:lnSpc>
                <a:spcPts val="2834"/>
              </a:lnSpc>
            </a:pPr>
            <a:r>
              <a:rPr lang="en-US" sz="202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Gaps in prior knowledge are progressive rather than binary, making early reinforcement effective.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212782" y="-47625"/>
            <a:ext cx="7862435" cy="276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5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Official (Closed), Sensitive (Normal)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028695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SG"/>
          </a:p>
        </p:txBody>
      </p:sp>
      <p:sp>
        <p:nvSpPr>
          <p:cNvPr id="3" name="Freeform 3"/>
          <p:cNvSpPr/>
          <p:nvPr/>
        </p:nvSpPr>
        <p:spPr>
          <a:xfrm>
            <a:off x="0" y="2023107"/>
            <a:ext cx="10920677" cy="3786502"/>
          </a:xfrm>
          <a:custGeom>
            <a:avLst/>
            <a:gdLst/>
            <a:ahLst/>
            <a:cxnLst/>
            <a:rect l="l" t="t" r="r" b="b"/>
            <a:pathLst>
              <a:path w="10920677" h="3786502">
                <a:moveTo>
                  <a:pt x="0" y="0"/>
                </a:moveTo>
                <a:lnTo>
                  <a:pt x="10920677" y="0"/>
                </a:lnTo>
                <a:lnTo>
                  <a:pt x="10920677" y="3786503"/>
                </a:lnTo>
                <a:lnTo>
                  <a:pt x="0" y="37865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5468"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4" name="Freeform 4"/>
          <p:cNvSpPr/>
          <p:nvPr/>
        </p:nvSpPr>
        <p:spPr>
          <a:xfrm>
            <a:off x="11054455" y="1913570"/>
            <a:ext cx="6975376" cy="4071876"/>
          </a:xfrm>
          <a:custGeom>
            <a:avLst/>
            <a:gdLst/>
            <a:ahLst/>
            <a:cxnLst/>
            <a:rect l="l" t="t" r="r" b="b"/>
            <a:pathLst>
              <a:path w="6975376" h="4071876">
                <a:moveTo>
                  <a:pt x="0" y="0"/>
                </a:moveTo>
                <a:lnTo>
                  <a:pt x="6975377" y="0"/>
                </a:lnTo>
                <a:lnTo>
                  <a:pt x="6975377" y="4071876"/>
                </a:lnTo>
                <a:lnTo>
                  <a:pt x="0" y="40718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5" name="TextBox 5"/>
          <p:cNvSpPr txBox="1"/>
          <p:nvPr/>
        </p:nvSpPr>
        <p:spPr>
          <a:xfrm>
            <a:off x="1028700" y="446589"/>
            <a:ext cx="16230600" cy="1087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40"/>
              </a:lnSpc>
              <a:spcBef>
                <a:spcPct val="0"/>
              </a:spcBef>
            </a:pPr>
            <a:r>
              <a:rPr lang="en-US" sz="6314" b="1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JENSON CHART INSIGHTS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85301" y="5835394"/>
            <a:ext cx="7930180" cy="4080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0"/>
              </a:lnSpc>
            </a:pPr>
            <a:r>
              <a:rPr lang="en-US" sz="2114" b="1" spc="1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B4: Study Hours by Risk</a:t>
            </a:r>
          </a:p>
          <a:p>
            <a:pPr marL="456616" lvl="1" indent="-228308" algn="ctr">
              <a:lnSpc>
                <a:spcPts val="2960"/>
              </a:lnSpc>
              <a:buFont typeface="Arial"/>
              <a:buChar char="•"/>
            </a:pPr>
            <a:r>
              <a:rPr lang="en-US" sz="211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Study hours decrease sharply </a:t>
            </a:r>
            <a:r>
              <a:rPr lang="en-US" sz="2114" u="none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as risk </a:t>
            </a:r>
            <a:r>
              <a:rPr lang="en-US" sz="211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increases, with high-risk students showi</a:t>
            </a:r>
            <a:r>
              <a:rPr lang="en-US" sz="2114" u="none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ng </a:t>
            </a:r>
            <a:r>
              <a:rPr lang="en-US" sz="211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the lowest median and tight</a:t>
            </a:r>
            <a:r>
              <a:rPr lang="en-US" sz="2114" u="none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clustering at low</a:t>
            </a:r>
            <a:r>
              <a:rPr lang="en-US" sz="211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values.</a:t>
            </a:r>
          </a:p>
          <a:p>
            <a:pPr marL="456616" lvl="1" indent="-228308" algn="ctr">
              <a:lnSpc>
                <a:spcPts val="2960"/>
              </a:lnSpc>
              <a:buFont typeface="Arial"/>
              <a:buChar char="•"/>
            </a:pPr>
            <a:r>
              <a:rPr lang="en-US" sz="211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Low-risk students consistently report higher and more s</a:t>
            </a:r>
            <a:r>
              <a:rPr lang="en-US" sz="2114" u="none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table study</a:t>
            </a:r>
            <a:r>
              <a:rPr lang="en-US" sz="211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time, indicating disciplin</a:t>
            </a:r>
            <a:r>
              <a:rPr lang="en-US" sz="2114" u="none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ed study habit</a:t>
            </a:r>
            <a:r>
              <a:rPr lang="en-US" sz="211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s.</a:t>
            </a:r>
          </a:p>
          <a:p>
            <a:pPr marL="456616" lvl="1" indent="-228308" algn="ctr">
              <a:lnSpc>
                <a:spcPts val="2960"/>
              </a:lnSpc>
              <a:buFont typeface="Arial"/>
              <a:buChar char="•"/>
            </a:pPr>
            <a:r>
              <a:rPr lang="en-US" sz="211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Medium-risk students show wide</a:t>
            </a:r>
            <a:r>
              <a:rPr lang="en-US" sz="2114" u="none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spread, suggesting </a:t>
            </a:r>
            <a:r>
              <a:rPr lang="en-US" sz="211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inconsisten</a:t>
            </a:r>
            <a:r>
              <a:rPr lang="en-US" sz="2114" u="none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t or inefficient study</a:t>
            </a:r>
            <a:r>
              <a:rPr lang="en-US" sz="211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patterns.</a:t>
            </a:r>
          </a:p>
          <a:p>
            <a:pPr algn="ctr">
              <a:lnSpc>
                <a:spcPts val="2960"/>
              </a:lnSpc>
            </a:pPr>
            <a:r>
              <a:rPr lang="en-US" sz="2114" b="1" spc="1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Insight:</a:t>
            </a:r>
          </a:p>
          <a:p>
            <a:pPr algn="ctr">
              <a:lnSpc>
                <a:spcPts val="2960"/>
              </a:lnSpc>
            </a:pPr>
            <a:r>
              <a:rPr lang="en-US" sz="211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Self-study time is the strongest behavioural differentiator between risk groups and a key intervention lever.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4893" y="6056883"/>
            <a:ext cx="7922722" cy="4046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1"/>
              </a:lnSpc>
            </a:pPr>
            <a:r>
              <a:rPr lang="en-US" sz="1908" b="1" spc="9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B8: Risk Priorities – Lowest Dimen</a:t>
            </a:r>
            <a:r>
              <a:rPr lang="en-US" sz="1908" b="1" u="none" spc="9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sions (High Risk)</a:t>
            </a:r>
          </a:p>
          <a:p>
            <a:pPr marL="412022" lvl="1" indent="-206011" algn="ctr">
              <a:lnSpc>
                <a:spcPts val="2671"/>
              </a:lnSpc>
              <a:buFont typeface="Arial"/>
              <a:buChar char="•"/>
            </a:pPr>
            <a:r>
              <a:rPr lang="en-US" sz="1908" u="none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High-r</a:t>
            </a:r>
            <a:r>
              <a:rPr lang="en-US" sz="1908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isk students</a:t>
            </a:r>
            <a:r>
              <a:rPr lang="en-US" sz="1908" u="none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1908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</a:t>
            </a:r>
            <a:r>
              <a:rPr lang="en-US" sz="1908" u="none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core lowest on prior knowledge</a:t>
            </a:r>
            <a:r>
              <a:rPr lang="en-US" sz="1908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and teaching support, highlighting foundational and instructional gaps.</a:t>
            </a:r>
          </a:p>
          <a:p>
            <a:pPr marL="412022" lvl="1" indent="-206011" algn="ctr">
              <a:lnSpc>
                <a:spcPts val="2671"/>
              </a:lnSpc>
              <a:buFont typeface="Arial"/>
              <a:buChar char="•"/>
            </a:pPr>
            <a:r>
              <a:rPr lang="en-US" sz="1908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Course relevance</a:t>
            </a:r>
            <a:r>
              <a:rPr lang="en-US" sz="1908" u="none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also</a:t>
            </a:r>
            <a:r>
              <a:rPr lang="en-US" sz="1908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1908" u="none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rank</a:t>
            </a:r>
            <a:r>
              <a:rPr lang="en-US" sz="1908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 low, suggesting disengagement or misalignment with programme </a:t>
            </a:r>
            <a:r>
              <a:rPr lang="en-US" sz="1908" u="none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con</a:t>
            </a:r>
            <a:r>
              <a:rPr lang="en-US" sz="1908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t</a:t>
            </a:r>
            <a:r>
              <a:rPr lang="en-US" sz="1908" u="none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ent.</a:t>
            </a:r>
          </a:p>
          <a:p>
            <a:pPr marL="412022" lvl="1" indent="-206011" algn="ctr">
              <a:lnSpc>
                <a:spcPts val="2671"/>
              </a:lnSpc>
              <a:buFont typeface="Arial"/>
              <a:buChar char="•"/>
            </a:pPr>
            <a:r>
              <a:rPr lang="en-US" sz="1908" u="none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Family</a:t>
            </a:r>
            <a:r>
              <a:rPr lang="en-US" sz="1908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and company support rank lowest but are less directly modifiable, limiting their usefulness as primary intervention targets.</a:t>
            </a:r>
          </a:p>
          <a:p>
            <a:pPr algn="ctr">
              <a:lnSpc>
                <a:spcPts val="2671"/>
              </a:lnSpc>
            </a:pPr>
            <a:r>
              <a:rPr lang="en-US" sz="1908" b="1" spc="9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Insight:</a:t>
            </a:r>
          </a:p>
          <a:p>
            <a:pPr algn="ctr">
              <a:lnSpc>
                <a:spcPts val="2671"/>
              </a:lnSpc>
            </a:pPr>
            <a:r>
              <a:rPr lang="en-US" sz="1908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The most actionable priorities for high-risk students are strengthening academic foundations and instructional support, not external support factors.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212782" y="-47625"/>
            <a:ext cx="7862435" cy="276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5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Official (Closed), Sensitive (Normal)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028695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SG"/>
          </a:p>
        </p:txBody>
      </p:sp>
      <p:sp>
        <p:nvSpPr>
          <p:cNvPr id="3" name="Freeform 3"/>
          <p:cNvSpPr/>
          <p:nvPr/>
        </p:nvSpPr>
        <p:spPr>
          <a:xfrm>
            <a:off x="0" y="2696930"/>
            <a:ext cx="10648496" cy="5555567"/>
          </a:xfrm>
          <a:custGeom>
            <a:avLst/>
            <a:gdLst/>
            <a:ahLst/>
            <a:cxnLst/>
            <a:rect l="l" t="t" r="r" b="b"/>
            <a:pathLst>
              <a:path w="10648496" h="5555567">
                <a:moveTo>
                  <a:pt x="0" y="0"/>
                </a:moveTo>
                <a:lnTo>
                  <a:pt x="10648496" y="0"/>
                </a:lnTo>
                <a:lnTo>
                  <a:pt x="10648496" y="5555567"/>
                </a:lnTo>
                <a:lnTo>
                  <a:pt x="0" y="55555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305"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4" name="TextBox 4"/>
          <p:cNvSpPr txBox="1"/>
          <p:nvPr/>
        </p:nvSpPr>
        <p:spPr>
          <a:xfrm>
            <a:off x="1028700" y="446589"/>
            <a:ext cx="16230600" cy="1087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40"/>
              </a:lnSpc>
              <a:spcBef>
                <a:spcPct val="0"/>
              </a:spcBef>
            </a:pPr>
            <a:r>
              <a:rPr lang="en-US" sz="6314" b="1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JENSON DASHBOARD INSIGHTS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648496" y="1973007"/>
            <a:ext cx="7121706" cy="8313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44577" lvl="1" indent="-222289" algn="ctr">
              <a:lnSpc>
                <a:spcPts val="2882"/>
              </a:lnSpc>
              <a:buFont typeface="Arial"/>
              <a:buChar char="•"/>
            </a:pPr>
            <a:r>
              <a:rPr lang="en-US" sz="2059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Across the dashboard, learning behaviours are the strongest differentiators of </a:t>
            </a:r>
            <a:r>
              <a:rPr lang="en-US" sz="2059" u="none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academic risk, outweigh</a:t>
            </a:r>
            <a:r>
              <a:rPr lang="en-US" sz="2059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ing external support factors.</a:t>
            </a:r>
          </a:p>
          <a:p>
            <a:pPr marL="444577" lvl="1" indent="-222289" algn="ctr">
              <a:lnSpc>
                <a:spcPts val="2882"/>
              </a:lnSpc>
              <a:buFont typeface="Arial"/>
              <a:buChar char="•"/>
            </a:pPr>
            <a:r>
              <a:rPr lang="en-US" sz="2059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Self-study hours consistently show</a:t>
            </a:r>
            <a:r>
              <a:rPr lang="en-US" sz="2059" u="none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2059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the largest gap between risk groups and the</a:t>
            </a:r>
            <a:r>
              <a:rPr lang="en-US" sz="2059" u="none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strongest </a:t>
            </a:r>
            <a:r>
              <a:rPr lang="en-US" sz="2059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association with GPA, making it the most actionable intervention lever.</a:t>
            </a:r>
          </a:p>
          <a:p>
            <a:pPr marL="444577" lvl="1" indent="-222289" algn="ctr">
              <a:lnSpc>
                <a:spcPts val="2882"/>
              </a:lnSpc>
              <a:buFont typeface="Arial"/>
              <a:buChar char="•"/>
            </a:pPr>
            <a:r>
              <a:rPr lang="en-US" sz="2059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Prior knowledge and teaching suppor</a:t>
            </a:r>
            <a:r>
              <a:rPr lang="en-US" sz="2059" u="none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t decline steadily</a:t>
            </a:r>
            <a:r>
              <a:rPr lang="en-US" sz="2059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as risk increases, indicating foundational gaps and instructional alignm</a:t>
            </a:r>
            <a:r>
              <a:rPr lang="en-US" sz="2059" u="none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ent issues rather than lack of motivation</a:t>
            </a:r>
            <a:r>
              <a:rPr lang="en-US" sz="2059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.</a:t>
            </a:r>
          </a:p>
          <a:p>
            <a:pPr marL="444577" lvl="1" indent="-222289" algn="ctr">
              <a:lnSpc>
                <a:spcPts val="2882"/>
              </a:lnSpc>
              <a:buFont typeface="Arial"/>
              <a:buChar char="•"/>
            </a:pPr>
            <a:r>
              <a:rPr lang="en-US" sz="2059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Course relevance emerges as a key disengagement signal among high-risk student</a:t>
            </a:r>
            <a:r>
              <a:rPr lang="en-US" sz="2059" u="none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s, suggesting m</a:t>
            </a:r>
            <a:r>
              <a:rPr lang="en-US" sz="2059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isalignment between studen</a:t>
            </a:r>
            <a:r>
              <a:rPr lang="en-US" sz="2059" u="none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t expectations and curriculum demands.</a:t>
            </a:r>
          </a:p>
          <a:p>
            <a:pPr marL="444577" lvl="1" indent="-222289" algn="ctr">
              <a:lnSpc>
                <a:spcPts val="2882"/>
              </a:lnSpc>
              <a:buFont typeface="Arial"/>
              <a:buChar char="•"/>
            </a:pPr>
            <a:r>
              <a:rPr lang="en-US" sz="2059" u="none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In contrast, family and company</a:t>
            </a:r>
            <a:r>
              <a:rPr lang="en-US" sz="2059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support show weaker correlations with outcomes, making them lower-priority targets for direct academic intervention.</a:t>
            </a:r>
          </a:p>
          <a:p>
            <a:pPr marL="444577" lvl="1" indent="-222289" algn="ctr">
              <a:lnSpc>
                <a:spcPts val="2882"/>
              </a:lnSpc>
              <a:buFont typeface="Arial"/>
              <a:buChar char="•"/>
            </a:pPr>
            <a:r>
              <a:rPr lang="en-US" sz="2059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Overall, the dashboard indicates that targeted academic and behavioural interventions (study habits, foundations, instructional support) are likely to be more effective than broad support-based approaches.</a:t>
            </a:r>
          </a:p>
          <a:p>
            <a:pPr algn="ctr">
              <a:lnSpc>
                <a:spcPts val="2882"/>
              </a:lnSpc>
            </a:pPr>
            <a:endParaRPr lang="en-US" sz="2059" spc="10">
              <a:solidFill>
                <a:srgbClr val="2B2C3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5212782" y="-47625"/>
            <a:ext cx="7862435" cy="276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5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Official (Closed), Sensitive (Normal)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028695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SG"/>
          </a:p>
        </p:txBody>
      </p:sp>
      <p:sp>
        <p:nvSpPr>
          <p:cNvPr id="3" name="TextBox 3"/>
          <p:cNvSpPr txBox="1"/>
          <p:nvPr/>
        </p:nvSpPr>
        <p:spPr>
          <a:xfrm>
            <a:off x="1028700" y="446589"/>
            <a:ext cx="16230600" cy="1087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40"/>
              </a:lnSpc>
              <a:spcBef>
                <a:spcPct val="0"/>
              </a:spcBef>
            </a:pPr>
            <a:r>
              <a:rPr lang="en-US" sz="6314" b="1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JENSON RECOMMENDATIONS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0" y="1956432"/>
            <a:ext cx="18288000" cy="7892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2"/>
              </a:lnSpc>
            </a:pPr>
            <a:r>
              <a:rPr lang="en-US" sz="2794" b="1" spc="1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1) Prioritise self-study behaviour as the primary intervention lever</a:t>
            </a:r>
          </a:p>
          <a:p>
            <a:pPr marL="603357" lvl="1" indent="-301679" algn="ctr">
              <a:lnSpc>
                <a:spcPts val="3912"/>
              </a:lnSpc>
              <a:buFont typeface="Arial"/>
              <a:buChar char="•"/>
            </a:pPr>
            <a:r>
              <a:rPr lang="en-US" sz="2794" spc="13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B1 and B4 show self-study hours as the strongest and most consistent differentiator of risk.</a:t>
            </a:r>
          </a:p>
          <a:p>
            <a:pPr marL="603357" lvl="1" indent="-301679" algn="ctr">
              <a:lnSpc>
                <a:spcPts val="3912"/>
              </a:lnSpc>
              <a:buFont typeface="Arial"/>
              <a:buChar char="•"/>
            </a:pPr>
            <a:r>
              <a:rPr lang="en-US" sz="2794" spc="13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Implement structured study plans, guided weekly</a:t>
            </a:r>
            <a:r>
              <a:rPr lang="en-US" sz="2794" u="none" spc="13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targets, and study-skills workshops (active recall, time planning).</a:t>
            </a:r>
          </a:p>
          <a:p>
            <a:pPr algn="ctr">
              <a:lnSpc>
                <a:spcPts val="3912"/>
              </a:lnSpc>
            </a:pPr>
            <a:r>
              <a:rPr lang="en-US" sz="2794" b="1" u="none" spc="1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2) Address foundational</a:t>
            </a:r>
            <a:r>
              <a:rPr lang="en-US" sz="2794" b="1" spc="1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knowledge gaps early</a:t>
            </a:r>
          </a:p>
          <a:p>
            <a:pPr marL="603357" lvl="1" indent="-301679" algn="ctr">
              <a:lnSpc>
                <a:spcPts val="3912"/>
              </a:lnSpc>
              <a:buFont typeface="Arial"/>
              <a:buChar char="•"/>
            </a:pPr>
            <a:r>
              <a:rPr lang="en-US" sz="2794" spc="13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B1 and B3 indicate declining prior knowledge as risk increases, with h</a:t>
            </a:r>
            <a:r>
              <a:rPr lang="en-US" sz="2794" u="none" spc="13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igh</a:t>
            </a:r>
            <a:r>
              <a:rPr lang="en-US" sz="2794" spc="13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-risk students clustering in lower confidence bands.</a:t>
            </a:r>
          </a:p>
          <a:p>
            <a:pPr marL="603357" lvl="1" indent="-301679" algn="ctr">
              <a:lnSpc>
                <a:spcPts val="3912"/>
              </a:lnSpc>
              <a:buFont typeface="Arial"/>
              <a:buChar char="•"/>
            </a:pPr>
            <a:r>
              <a:rPr lang="en-US" sz="2794" spc="13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Introduce bridging modules, prerequisi</a:t>
            </a:r>
            <a:r>
              <a:rPr lang="en-US" sz="2794" u="none" spc="13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te refreshers, or</a:t>
            </a:r>
            <a:r>
              <a:rPr lang="en-US" sz="2794" spc="13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early diagnostic quizzes with targeted remediation.</a:t>
            </a:r>
          </a:p>
          <a:p>
            <a:pPr algn="ctr">
              <a:lnSpc>
                <a:spcPts val="3912"/>
              </a:lnSpc>
            </a:pPr>
            <a:r>
              <a:rPr lang="en-US" sz="2794" b="1" spc="1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3) Strengthen instructional alignment rather than ext</a:t>
            </a:r>
            <a:r>
              <a:rPr lang="en-US" sz="2794" b="1" u="none" spc="1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ernal</a:t>
            </a:r>
            <a:r>
              <a:rPr lang="en-US" sz="2794" b="1" spc="1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support</a:t>
            </a:r>
          </a:p>
          <a:p>
            <a:pPr marL="603357" lvl="1" indent="-301679" algn="ctr">
              <a:lnSpc>
                <a:spcPts val="3912"/>
              </a:lnSpc>
              <a:buFont typeface="Arial"/>
              <a:buChar char="•"/>
            </a:pPr>
            <a:r>
              <a:rPr lang="en-US" sz="2794" spc="13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B1 shows teaching support and course relevance separating ri</a:t>
            </a:r>
            <a:r>
              <a:rPr lang="en-US" sz="2794" u="none" spc="13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sk groups more cl</a:t>
            </a:r>
            <a:r>
              <a:rPr lang="en-US" sz="2794" spc="13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early than family or company</a:t>
            </a:r>
            <a:r>
              <a:rPr lang="en-US" sz="2794" u="none" spc="13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support.</a:t>
            </a:r>
          </a:p>
          <a:p>
            <a:pPr marL="603357" lvl="1" indent="-301679" algn="ctr">
              <a:lnSpc>
                <a:spcPts val="3912"/>
              </a:lnSpc>
              <a:buFont typeface="Arial"/>
              <a:buChar char="•"/>
            </a:pPr>
            <a:r>
              <a:rPr lang="en-US" sz="2794" u="none" spc="13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Review course pacing, assessment clarity, and feedback mechanisms, especially for cohorts with high perceived</a:t>
            </a:r>
            <a:r>
              <a:rPr lang="en-US" sz="2794" spc="13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misalignment.</a:t>
            </a:r>
          </a:p>
          <a:p>
            <a:pPr algn="ctr">
              <a:lnSpc>
                <a:spcPts val="3912"/>
              </a:lnSpc>
            </a:pPr>
            <a:r>
              <a:rPr lang="en-US" sz="2794" b="1" spc="1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4) De-prioritise broad external support as a primary academic intervention</a:t>
            </a:r>
          </a:p>
          <a:p>
            <a:pPr marL="603357" lvl="1" indent="-301679" algn="ctr">
              <a:lnSpc>
                <a:spcPts val="3912"/>
              </a:lnSpc>
              <a:buFont typeface="Arial"/>
              <a:buChar char="•"/>
            </a:pPr>
            <a:r>
              <a:rPr lang="en-US" sz="2794" spc="13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Family and company support show weaker differentiation and lower outcome correlation.</a:t>
            </a:r>
          </a:p>
          <a:p>
            <a:pPr marL="603357" lvl="1" indent="-301679" algn="ctr">
              <a:lnSpc>
                <a:spcPts val="3912"/>
              </a:lnSpc>
              <a:buFont typeface="Arial"/>
              <a:buChar char="•"/>
            </a:pPr>
            <a:r>
              <a:rPr lang="en-US" sz="2794" spc="13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Treat these as supplementary, not core, levers for reducing academic risk.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212782" y="-47625"/>
            <a:ext cx="7862435" cy="276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5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Official (Closed), Sensitive (Normal)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3859713"/>
            <a:ext cx="16230600" cy="2424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80"/>
              </a:lnSpc>
            </a:pPr>
            <a:r>
              <a:rPr lang="en-US" sz="6914" b="1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APPENDIX:</a:t>
            </a:r>
          </a:p>
          <a:p>
            <a:pPr algn="ctr">
              <a:lnSpc>
                <a:spcPts val="9680"/>
              </a:lnSpc>
              <a:spcBef>
                <a:spcPct val="0"/>
              </a:spcBef>
            </a:pPr>
            <a:r>
              <a:rPr lang="en-US" sz="6914" b="1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ADDITIONAL CHARTS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212782" y="-47625"/>
            <a:ext cx="7862435" cy="276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5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Official (Closed), Sensitive (Normal)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028695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SG"/>
          </a:p>
        </p:txBody>
      </p:sp>
      <p:sp>
        <p:nvSpPr>
          <p:cNvPr id="3" name="Freeform 3"/>
          <p:cNvSpPr/>
          <p:nvPr/>
        </p:nvSpPr>
        <p:spPr>
          <a:xfrm>
            <a:off x="4823534" y="2023107"/>
            <a:ext cx="8164314" cy="4694480"/>
          </a:xfrm>
          <a:custGeom>
            <a:avLst/>
            <a:gdLst/>
            <a:ahLst/>
            <a:cxnLst/>
            <a:rect l="l" t="t" r="r" b="b"/>
            <a:pathLst>
              <a:path w="8164314" h="4694480">
                <a:moveTo>
                  <a:pt x="0" y="0"/>
                </a:moveTo>
                <a:lnTo>
                  <a:pt x="8164314" y="0"/>
                </a:lnTo>
                <a:lnTo>
                  <a:pt x="8164314" y="4694481"/>
                </a:lnTo>
                <a:lnTo>
                  <a:pt x="0" y="46944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4" name="Freeform 4"/>
          <p:cNvSpPr/>
          <p:nvPr/>
        </p:nvSpPr>
        <p:spPr>
          <a:xfrm>
            <a:off x="3493371" y="6936663"/>
            <a:ext cx="11301259" cy="3277365"/>
          </a:xfrm>
          <a:custGeom>
            <a:avLst/>
            <a:gdLst/>
            <a:ahLst/>
            <a:cxnLst/>
            <a:rect l="l" t="t" r="r" b="b"/>
            <a:pathLst>
              <a:path w="11301259" h="3277365">
                <a:moveTo>
                  <a:pt x="0" y="0"/>
                </a:moveTo>
                <a:lnTo>
                  <a:pt x="11301258" y="0"/>
                </a:lnTo>
                <a:lnTo>
                  <a:pt x="11301258" y="3277365"/>
                </a:lnTo>
                <a:lnTo>
                  <a:pt x="0" y="32773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5" name="TextBox 5"/>
          <p:cNvSpPr txBox="1"/>
          <p:nvPr/>
        </p:nvSpPr>
        <p:spPr>
          <a:xfrm>
            <a:off x="1028700" y="446589"/>
            <a:ext cx="16230600" cy="1087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40"/>
              </a:lnSpc>
              <a:spcBef>
                <a:spcPct val="0"/>
              </a:spcBef>
            </a:pPr>
            <a:r>
              <a:rPr lang="en-US" sz="6314" b="1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APPENDIX: KUN MING CHARTS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212782" y="-47625"/>
            <a:ext cx="7862435" cy="276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5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Official (Closed), Sensitive (Normal)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028695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SG"/>
          </a:p>
        </p:txBody>
      </p:sp>
      <p:sp>
        <p:nvSpPr>
          <p:cNvPr id="3" name="Freeform 3"/>
          <p:cNvSpPr/>
          <p:nvPr/>
        </p:nvSpPr>
        <p:spPr>
          <a:xfrm>
            <a:off x="785022" y="2159217"/>
            <a:ext cx="7582768" cy="5968565"/>
          </a:xfrm>
          <a:custGeom>
            <a:avLst/>
            <a:gdLst/>
            <a:ahLst/>
            <a:cxnLst/>
            <a:rect l="l" t="t" r="r" b="b"/>
            <a:pathLst>
              <a:path w="7582768" h="5968565">
                <a:moveTo>
                  <a:pt x="0" y="0"/>
                </a:moveTo>
                <a:lnTo>
                  <a:pt x="7582768" y="0"/>
                </a:lnTo>
                <a:lnTo>
                  <a:pt x="7582768" y="5968566"/>
                </a:lnTo>
                <a:lnTo>
                  <a:pt x="0" y="59685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4" name="Freeform 4"/>
          <p:cNvSpPr/>
          <p:nvPr/>
        </p:nvSpPr>
        <p:spPr>
          <a:xfrm>
            <a:off x="8568086" y="2318061"/>
            <a:ext cx="8836078" cy="5809722"/>
          </a:xfrm>
          <a:custGeom>
            <a:avLst/>
            <a:gdLst/>
            <a:ahLst/>
            <a:cxnLst/>
            <a:rect l="l" t="t" r="r" b="b"/>
            <a:pathLst>
              <a:path w="8836078" h="5809722">
                <a:moveTo>
                  <a:pt x="0" y="0"/>
                </a:moveTo>
                <a:lnTo>
                  <a:pt x="8836078" y="0"/>
                </a:lnTo>
                <a:lnTo>
                  <a:pt x="8836078" y="5809722"/>
                </a:lnTo>
                <a:lnTo>
                  <a:pt x="0" y="58097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5" name="TextBox 5"/>
          <p:cNvSpPr txBox="1"/>
          <p:nvPr/>
        </p:nvSpPr>
        <p:spPr>
          <a:xfrm>
            <a:off x="1028700" y="446589"/>
            <a:ext cx="16230600" cy="1087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40"/>
              </a:lnSpc>
              <a:spcBef>
                <a:spcPct val="0"/>
              </a:spcBef>
            </a:pPr>
            <a:r>
              <a:rPr lang="en-US" sz="6314" b="1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APPENDIX: JENSON CHARTS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212782" y="-47625"/>
            <a:ext cx="7862435" cy="276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5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Official (Closed), Sensitive (Normal)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028695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SG"/>
          </a:p>
        </p:txBody>
      </p:sp>
      <p:sp>
        <p:nvSpPr>
          <p:cNvPr id="3" name="Freeform 3"/>
          <p:cNvSpPr/>
          <p:nvPr/>
        </p:nvSpPr>
        <p:spPr>
          <a:xfrm>
            <a:off x="5008689" y="1940966"/>
            <a:ext cx="7434666" cy="4832533"/>
          </a:xfrm>
          <a:custGeom>
            <a:avLst/>
            <a:gdLst/>
            <a:ahLst/>
            <a:cxnLst/>
            <a:rect l="l" t="t" r="r" b="b"/>
            <a:pathLst>
              <a:path w="7434666" h="4832533">
                <a:moveTo>
                  <a:pt x="0" y="0"/>
                </a:moveTo>
                <a:lnTo>
                  <a:pt x="7434666" y="0"/>
                </a:lnTo>
                <a:lnTo>
                  <a:pt x="7434666" y="4832533"/>
                </a:lnTo>
                <a:lnTo>
                  <a:pt x="0" y="48325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4" name="Freeform 4"/>
          <p:cNvSpPr/>
          <p:nvPr/>
        </p:nvSpPr>
        <p:spPr>
          <a:xfrm>
            <a:off x="3296642" y="6773499"/>
            <a:ext cx="11694715" cy="3362231"/>
          </a:xfrm>
          <a:custGeom>
            <a:avLst/>
            <a:gdLst/>
            <a:ahLst/>
            <a:cxnLst/>
            <a:rect l="l" t="t" r="r" b="b"/>
            <a:pathLst>
              <a:path w="11694715" h="3362231">
                <a:moveTo>
                  <a:pt x="0" y="0"/>
                </a:moveTo>
                <a:lnTo>
                  <a:pt x="11694716" y="0"/>
                </a:lnTo>
                <a:lnTo>
                  <a:pt x="11694716" y="3362230"/>
                </a:lnTo>
                <a:lnTo>
                  <a:pt x="0" y="33622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5" name="TextBox 5"/>
          <p:cNvSpPr txBox="1"/>
          <p:nvPr/>
        </p:nvSpPr>
        <p:spPr>
          <a:xfrm>
            <a:off x="1028700" y="446589"/>
            <a:ext cx="16230600" cy="1087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40"/>
              </a:lnSpc>
              <a:spcBef>
                <a:spcPct val="0"/>
              </a:spcBef>
            </a:pPr>
            <a:r>
              <a:rPr lang="en-US" sz="6314" b="1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APPENDIX: JENSON CHARTS 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212782" y="-47625"/>
            <a:ext cx="7862435" cy="276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5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Official (Closed), Sensitive (Normal)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2119</Words>
  <Application>Microsoft Office PowerPoint</Application>
  <PresentationFormat>Custom</PresentationFormat>
  <Paragraphs>254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Arial</vt:lpstr>
      <vt:lpstr>Arimo</vt:lpstr>
      <vt:lpstr>Calibri</vt:lpstr>
      <vt:lpstr>Public Sans</vt:lpstr>
      <vt:lpstr>Public Sans Bold</vt:lpstr>
      <vt:lpstr>Canva Sans</vt:lpstr>
      <vt:lpstr>Playfair Display</vt:lpstr>
      <vt:lpstr>Canva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DAVI CA2</dc:title>
  <cp:lastModifiedBy>GOH KUN MING</cp:lastModifiedBy>
  <cp:revision>2</cp:revision>
  <dcterms:created xsi:type="dcterms:W3CDTF">2006-08-16T00:00:00Z</dcterms:created>
  <dcterms:modified xsi:type="dcterms:W3CDTF">2026-03-25T10:19:44Z</dcterms:modified>
  <dc:identifier>DAHAieT1QtY</dc:identifier>
</cp:coreProperties>
</file>