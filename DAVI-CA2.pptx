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Playfair Display" charset="1" panose="00000500000000000000"/>
      <p:regular r:id="rId25"/>
    </p:embeddedFont>
    <p:embeddedFont>
      <p:font typeface="Public Sans" charset="1" panose="00000000000000000000"/>
      <p:regular r:id="rId26"/>
    </p:embeddedFont>
    <p:embeddedFont>
      <p:font typeface="Public Sans Bold" charset="1" panose="00000000000000000000"/>
      <p:regular r:id="rId27"/>
    </p:embeddedFont>
    <p:embeddedFont>
      <p:font typeface="Canva Sans" charset="1" panose="020B0503030501040103"/>
      <p:regular r:id="rId28"/>
    </p:embeddedFont>
    <p:embeddedFont>
      <p:font typeface="Canva Sans Bold" charset="1" panose="020B0803030501040103"/>
      <p:regular r:id="rId29"/>
    </p:embeddedFont>
    <p:embeddedFont>
      <p:font typeface="Arimo" charset="1" panose="020B0604020202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localhost:8050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50974" y="3073534"/>
            <a:ext cx="16408332" cy="134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83"/>
              </a:lnSpc>
            </a:pPr>
            <a:r>
              <a:rPr lang="en-US" sz="10860" spc="5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DAVI CA2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863239"/>
            <a:ext cx="7862435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Goh Kun Ming, Goh Jenson</a:t>
            </a:r>
          </a:p>
          <a:p>
            <a:pPr algn="l">
              <a:lnSpc>
                <a:spcPts val="5250"/>
              </a:lnSpc>
            </a:pPr>
            <a:r>
              <a:rPr lang="en-US" sz="3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P2415691, P2401380</a:t>
            </a:r>
          </a:p>
          <a:p>
            <a:pPr algn="l">
              <a:lnSpc>
                <a:spcPts val="5250"/>
              </a:lnSpc>
            </a:pPr>
            <a:r>
              <a:rPr lang="en-US" sz="3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DAAA/FT/2B/02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12782" y="-47625"/>
            <a:ext cx="7862435" cy="27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446589"/>
            <a:ext cx="16230600" cy="108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b="true" sz="631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ASSIGNMENT OBJECTIVE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2784" y="1946907"/>
            <a:ext cx="15442431" cy="73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8"/>
              </a:lnSpc>
              <a:spcBef>
                <a:spcPct val="0"/>
              </a:spcBef>
            </a:pPr>
            <a:r>
              <a:rPr lang="en-US" sz="404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Understand how academic </a:t>
            </a:r>
            <a:r>
              <a:rPr lang="en-US" sz="404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outcomes, engagement, and learning behaviours interact to identify at-risk cohorts and guide targeted support.</a:t>
            </a:r>
          </a:p>
          <a:p>
            <a:pPr algn="ctr">
              <a:lnSpc>
                <a:spcPts val="5658"/>
              </a:lnSpc>
              <a:spcBef>
                <a:spcPct val="0"/>
              </a:spcBef>
            </a:pPr>
          </a:p>
          <a:p>
            <a:pPr algn="ctr">
              <a:lnSpc>
                <a:spcPts val="5658"/>
              </a:lnSpc>
              <a:spcBef>
                <a:spcPct val="0"/>
              </a:spcBef>
            </a:pPr>
            <a:r>
              <a:rPr lang="en-US" sz="404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Dashboard Link:</a:t>
            </a:r>
          </a:p>
          <a:p>
            <a:pPr algn="ctr">
              <a:lnSpc>
                <a:spcPts val="5658"/>
              </a:lnSpc>
              <a:spcBef>
                <a:spcPct val="0"/>
              </a:spcBef>
            </a:pPr>
            <a:r>
              <a:rPr lang="en-US" sz="4041" u="sng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  <a:hlinkClick r:id="rId2" tooltip="http://localhost:8050"/>
              </a:rPr>
              <a:t>localhost:8050</a:t>
            </a:r>
          </a:p>
          <a:p>
            <a:pPr algn="ctr">
              <a:lnSpc>
                <a:spcPts val="5658"/>
              </a:lnSpc>
              <a:spcBef>
                <a:spcPct val="0"/>
              </a:spcBef>
            </a:pPr>
            <a:r>
              <a:rPr lang="en-US" sz="404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Kun Ming Charts for Grading: A1 (PX), A2, A3, A4 (GO)</a:t>
            </a:r>
          </a:p>
          <a:p>
            <a:pPr algn="ctr">
              <a:lnSpc>
                <a:spcPts val="5658"/>
              </a:lnSpc>
              <a:spcBef>
                <a:spcPct val="0"/>
              </a:spcBef>
            </a:pPr>
            <a:r>
              <a:rPr lang="en-US" sz="404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Jenson Charts for Grading:  B1 (PX), B3,  B4, B8(GO) </a:t>
            </a:r>
          </a:p>
          <a:p>
            <a:pPr algn="ctr">
              <a:lnSpc>
                <a:spcPts val="6498"/>
              </a:lnSpc>
              <a:spcBef>
                <a:spcPct val="0"/>
              </a:spcBef>
            </a:pPr>
          </a:p>
          <a:p>
            <a:pPr algn="ctr">
              <a:lnSpc>
                <a:spcPts val="6498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231832" y="-47625"/>
            <a:ext cx="7862435" cy="27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484689"/>
            <a:ext cx="16230600" cy="780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ISSUES - COURSE CODE AND STUDENT RESULTS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350262" y="1935550"/>
          <a:ext cx="17587476" cy="2645655"/>
        </p:xfrm>
        <a:graphic>
          <a:graphicData uri="http://schemas.openxmlformats.org/drawingml/2006/table">
            <a:tbl>
              <a:tblPr/>
              <a:tblGrid>
                <a:gridCol w="9850960"/>
                <a:gridCol w="2419189"/>
                <a:gridCol w="5317327"/>
              </a:tblGrid>
              <a:tr h="8422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Field Name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No. of Records Affected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Action Taken to Clean the Data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59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CODE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‘int64’ to ’int16’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74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COURSE NAME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350262" y="4732588"/>
          <a:ext cx="17587476" cy="5554412"/>
        </p:xfrm>
        <a:graphic>
          <a:graphicData uri="http://schemas.openxmlformats.org/drawingml/2006/table">
            <a:tbl>
              <a:tblPr/>
              <a:tblGrid>
                <a:gridCol w="9858872"/>
                <a:gridCol w="2433324"/>
                <a:gridCol w="5295280"/>
              </a:tblGrid>
              <a:tr h="11484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All Columns (Duplicates)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Dropped duplicates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84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STUDENT ID + PERIOD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Dropped rows as they violate entity integrity rule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77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STUDENT ID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543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77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GPA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543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‘int64’ to ‘float32’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44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PERIOD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412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Standardised (e.g. Sem1, Sem 1 -&gt; Semester 1), Converted ‘object’ to ‘string’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77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Attendance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543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‘int64’ to ‘int16’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5212782" y="-47625"/>
            <a:ext cx="7862435" cy="27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46267" y="66040"/>
            <a:ext cx="10395467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Issues – Student Survery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2973716" y="1555896"/>
          <a:ext cx="12340568" cy="7917885"/>
        </p:xfrm>
        <a:graphic>
          <a:graphicData uri="http://schemas.openxmlformats.org/drawingml/2006/table">
            <a:tbl>
              <a:tblPr/>
              <a:tblGrid>
                <a:gridCol w="6044327"/>
                <a:gridCol w="2976213"/>
                <a:gridCol w="3320028"/>
              </a:tblGrid>
              <a:tr h="6286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Field Name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Number of Records Affected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Action Taken to Clean the Data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8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All Columns (Duplicates)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Dropped duplicates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31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STUDENT ID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531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03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PERIOD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423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Standardised (e.g. Sem1, Sem 1 -&gt; Semester 1), Converted ‘object’ to ‘string’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9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PRIOR KNOWLEDGE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531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‘int64’ to ’int8’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43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COURSE RELEVANCE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531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‘int64’ to ’int8’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43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TEACHING SUPPORT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531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‘int64’ to’int8’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43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COMPANY SUPPORT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531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‘int64’ to ’int8’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43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FAMILY SUPPORT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531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‘int64’ to ’int8’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43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SELF-STUDY HRS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531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‘int64’ to ’int8’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212782" y="-47625"/>
            <a:ext cx="7862435" cy="27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52900" y="66040"/>
            <a:ext cx="9982200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Issues – Student Profile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331968" y="1028700"/>
          <a:ext cx="17624065" cy="9262642"/>
        </p:xfrm>
        <a:graphic>
          <a:graphicData uri="http://schemas.openxmlformats.org/drawingml/2006/table">
            <a:tbl>
              <a:tblPr/>
              <a:tblGrid>
                <a:gridCol w="7479687"/>
                <a:gridCol w="7492631"/>
                <a:gridCol w="2651746"/>
              </a:tblGrid>
              <a:tr h="6962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Field Name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Number of Records Affected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Action Taken to Clean the Data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95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All Columns (Duplicates)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Dropped duplicates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62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STUDENT ID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Dropped Duplicates</a:t>
                      </a:r>
                      <a:endParaRPr lang="en-US" sz="1100"/>
                    </a:p>
                    <a:p>
                      <a:pPr algn="l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‘string’</a:t>
                      </a:r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95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GENDER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297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42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SG CITIZEN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missing values to ‘N’ </a:t>
                      </a:r>
                      <a:endParaRPr lang="en-US" sz="1100"/>
                    </a:p>
                    <a:p>
                      <a:pPr algn="l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‘string’</a:t>
                      </a:r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42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SG PR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275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missing values to ‘N’ Converted ‘object’ to ‘string’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42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FOREIGNER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271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missing values to ‘N’ Converted ‘object’ to ‘string’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2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COUNTRY OF OTHER NATIONALITY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missing values to ‘N.A.’</a:t>
                      </a:r>
                      <a:endParaRPr lang="en-US" sz="1100"/>
                    </a:p>
                    <a:p>
                      <a:pPr algn="l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‘Malaysian’ to ‘Malaysia’</a:t>
                      </a:r>
                    </a:p>
                    <a:p>
                      <a:pPr algn="l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Converted ‘object’ to‘string’</a:t>
                      </a:r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95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DOB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297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42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HIGHEST QUALIFICATION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Filled missing value with the mode</a:t>
                      </a:r>
                      <a:endParaRPr lang="en-US" sz="1100"/>
                    </a:p>
                    <a:p>
                      <a:pPr algn="l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‘string’</a:t>
                      </a:r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42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NAME OF QUALIFICATION AND INSTITUTION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Standardised (e.g. O’ level à O’ Level)</a:t>
                      </a:r>
                      <a:endParaRPr lang="en-US" sz="1100"/>
                    </a:p>
                    <a:p>
                      <a:pPr algn="l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</a:t>
                      </a:r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212782" y="-47625"/>
            <a:ext cx="7862435" cy="27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33404" y="66040"/>
            <a:ext cx="9982200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Issues – Student Profile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0" y="1303722"/>
          <a:ext cx="18288000" cy="8983278"/>
        </p:xfrm>
        <a:graphic>
          <a:graphicData uri="http://schemas.openxmlformats.org/drawingml/2006/table">
            <a:tbl>
              <a:tblPr/>
              <a:tblGrid>
                <a:gridCol w="8107212"/>
                <a:gridCol w="8122803"/>
                <a:gridCol w="2057985"/>
              </a:tblGrid>
              <a:tr h="7642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Field Name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Number of Records Affected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Action Taken to Clean the Data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83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DESIGNATION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Standardised (e.g. HR/Admin, HR &amp; ADMIN to HR &amp; Admin)</a:t>
                      </a:r>
                      <a:endParaRPr lang="en-US" sz="1100"/>
                    </a:p>
                    <a:p>
                      <a:pPr algn="l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‘string’</a:t>
                      </a:r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58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COMMENCEMENT DATE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Converted missing values to ‘N.A.’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35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COMMENCEMENT DATE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Standardised (e.g. '10th Apr 2023’ to '2023-04-10’)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63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COMPLETION DATE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missing values to ‘N.A.’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93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COMPLETION DATE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Standardised (e.g. '15th Sep 2025’ to '2025-9-15’)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93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FULL-TIME OR PART-TIME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Standardised (e.g. ‘Part Time’ to ‘Part-Time’)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63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COURSE FUNDING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Standarised (e.g.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'Sponsored-no SDF’ , 'Sponsored - SDF’ , 'Sponsored - no SDF’ to 'Sponsored’)</a:t>
                      </a:r>
                      <a:endParaRPr lang="en-US" sz="1100"/>
                    </a:p>
                    <a:p>
                      <a:pPr algn="l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Converted ‘object’ to ‘string’</a:t>
                      </a:r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212782" y="-47625"/>
            <a:ext cx="7862435" cy="27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82255" y="2745271"/>
            <a:ext cx="8961745" cy="4626501"/>
          </a:xfrm>
          <a:custGeom>
            <a:avLst/>
            <a:gdLst/>
            <a:ahLst/>
            <a:cxnLst/>
            <a:rect r="r" b="b" t="t" l="l"/>
            <a:pathLst>
              <a:path h="4626501" w="8961745">
                <a:moveTo>
                  <a:pt x="0" y="0"/>
                </a:moveTo>
                <a:lnTo>
                  <a:pt x="8961745" y="0"/>
                </a:lnTo>
                <a:lnTo>
                  <a:pt x="8961745" y="4626500"/>
                </a:lnTo>
                <a:lnTo>
                  <a:pt x="0" y="4626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2830250"/>
            <a:ext cx="8904945" cy="4541522"/>
          </a:xfrm>
          <a:custGeom>
            <a:avLst/>
            <a:gdLst/>
            <a:ahLst/>
            <a:cxnLst/>
            <a:rect r="r" b="b" t="t" l="l"/>
            <a:pathLst>
              <a:path h="4541522" w="8904945">
                <a:moveTo>
                  <a:pt x="0" y="0"/>
                </a:moveTo>
                <a:lnTo>
                  <a:pt x="8904945" y="0"/>
                </a:lnTo>
                <a:lnTo>
                  <a:pt x="8904945" y="4541521"/>
                </a:lnTo>
                <a:lnTo>
                  <a:pt x="0" y="454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46589"/>
            <a:ext cx="16230600" cy="108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b="true" sz="631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DASHBOARD TEMPLATE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12782" y="-47625"/>
            <a:ext cx="7862435" cy="27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695" y="1899654"/>
            <a:ext cx="8456877" cy="4175583"/>
          </a:xfrm>
          <a:custGeom>
            <a:avLst/>
            <a:gdLst/>
            <a:ahLst/>
            <a:cxnLst/>
            <a:rect r="r" b="b" t="t" l="l"/>
            <a:pathLst>
              <a:path h="4175583" w="8456877">
                <a:moveTo>
                  <a:pt x="0" y="0"/>
                </a:moveTo>
                <a:lnTo>
                  <a:pt x="8456877" y="0"/>
                </a:lnTo>
                <a:lnTo>
                  <a:pt x="8456877" y="4175583"/>
                </a:lnTo>
                <a:lnTo>
                  <a:pt x="0" y="41755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695" y="6075237"/>
            <a:ext cx="5879682" cy="4025798"/>
          </a:xfrm>
          <a:custGeom>
            <a:avLst/>
            <a:gdLst/>
            <a:ahLst/>
            <a:cxnLst/>
            <a:rect r="r" b="b" t="t" l="l"/>
            <a:pathLst>
              <a:path h="4025798" w="5879682">
                <a:moveTo>
                  <a:pt x="0" y="0"/>
                </a:moveTo>
                <a:lnTo>
                  <a:pt x="5879682" y="0"/>
                </a:lnTo>
                <a:lnTo>
                  <a:pt x="5879682" y="4025799"/>
                </a:lnTo>
                <a:lnTo>
                  <a:pt x="0" y="40257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46589"/>
            <a:ext cx="16230600" cy="108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b="true" sz="631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KUN MING CHART INSIGHTS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5672" y="1761170"/>
            <a:ext cx="8602328" cy="4201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6"/>
              </a:lnSpc>
            </a:pPr>
            <a:r>
              <a:rPr lang="en-US" b="true" sz="1847" spc="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A1: Risk Map – GPA vs Attendance</a:t>
            </a:r>
          </a:p>
          <a:p>
            <a:pPr algn="ctr" marL="398828" indent="-199414" lvl="1">
              <a:lnSpc>
                <a:spcPts val="2586"/>
              </a:lnSpc>
              <a:buFont typeface="Arial"/>
              <a:buChar char="•"/>
            </a:pP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Attendance and GPA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show a moder</a:t>
            </a:r>
            <a:r>
              <a:rPr lang="en-US" sz="1847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te positiv</a:t>
            </a:r>
            <a:r>
              <a:rPr lang="en-US" sz="1847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relati</a:t>
            </a:r>
            <a:r>
              <a:rPr lang="en-US" sz="1847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onship (r ≈ 0.42), b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ut attendance al</a:t>
            </a:r>
            <a:r>
              <a:rPr lang="en-US" sz="1847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one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does not </a:t>
            </a:r>
            <a:r>
              <a:rPr lang="en-US" sz="1847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expla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1847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performance</a:t>
            </a:r>
            <a:r>
              <a:rPr lang="en-US" sz="1847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ctr" marL="398828" indent="-199414" lvl="1">
              <a:lnSpc>
                <a:spcPts val="2586"/>
              </a:lnSpc>
              <a:buFont typeface="Arial"/>
              <a:buChar char="•"/>
            </a:pP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</a:t>
            </a:r>
            <a:r>
              <a:rPr lang="en-US" sz="1847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ow-ri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sk stu</a:t>
            </a:r>
            <a:r>
              <a:rPr lang="en-US" sz="1847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dents cluster at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high attendance and h</a:t>
            </a:r>
            <a:r>
              <a:rPr lang="en-US" sz="1847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gh GPA, showing effec</a:t>
            </a:r>
            <a:r>
              <a:rPr lang="en-US" sz="1847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ive conv</a:t>
            </a:r>
            <a:r>
              <a:rPr lang="en-US" sz="1847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1847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1847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 of engagement into result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1847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ctr" marL="398828" indent="-199414" lvl="1">
              <a:lnSpc>
                <a:spcPts val="2586"/>
              </a:lnSpc>
              <a:buFont typeface="Arial"/>
              <a:buChar char="•"/>
            </a:pP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High-risk 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stud</a:t>
            </a:r>
            <a:r>
              <a:rPr lang="en-US" sz="1847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ent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 include not only l</a:t>
            </a:r>
            <a:r>
              <a:rPr lang="en-US" sz="1847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ow-attenda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nce cases, but als</a:t>
            </a:r>
            <a:r>
              <a:rPr lang="en-US" sz="1847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 stude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nts with adequat</a:t>
            </a:r>
            <a:r>
              <a:rPr lang="en-US" sz="1847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attendance</a:t>
            </a: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yet low GPA, indicating hidden academic risk.</a:t>
            </a:r>
          </a:p>
          <a:p>
            <a:pPr algn="ctr" marL="398828" indent="-199414" lvl="1">
              <a:lnSpc>
                <a:spcPts val="2586"/>
              </a:lnSpc>
              <a:buFont typeface="Arial"/>
              <a:buChar char="•"/>
            </a:pP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Medium-risk students form a broad middle band and represent the best group for early intervention.</a:t>
            </a:r>
          </a:p>
          <a:p>
            <a:pPr algn="ctr">
              <a:lnSpc>
                <a:spcPts val="2586"/>
              </a:lnSpc>
            </a:pPr>
            <a:r>
              <a:rPr lang="en-US" b="true" sz="1847" spc="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Takeaway:</a:t>
            </a:r>
          </a:p>
          <a:p>
            <a:pPr algn="ctr" marL="398828" indent="-199414" lvl="1">
              <a:lnSpc>
                <a:spcPts val="2586"/>
              </a:lnSpc>
              <a:buFont typeface="Arial"/>
              <a:buChar char="•"/>
            </a:pPr>
            <a:r>
              <a:rPr lang="en-US" sz="1847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Attendance is a useful filter, but GPA must be monitored even when attendance is acceptable to avoid missing at-risk students.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35009" y="6122862"/>
            <a:ext cx="9911876" cy="4263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4"/>
              </a:lnSpc>
            </a:pPr>
            <a:r>
              <a:rPr lang="en-US" b="true" sz="2024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A2: Risk Concentration – Cohort Sunburst</a:t>
            </a:r>
          </a:p>
          <a:p>
            <a:pPr algn="ctr" marL="437160" indent="-218580" lvl="1">
              <a:lnSpc>
                <a:spcPts val="2834"/>
              </a:lnSpc>
              <a:buFont typeface="Arial"/>
              <a:buChar char="•"/>
            </a:pP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Academic risk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is unevenly concentr</a:t>
            </a:r>
            <a:r>
              <a:rPr lang="en-US" sz="202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ted in specific cohort combinati</a:t>
            </a:r>
            <a:r>
              <a:rPr lang="en-US" sz="202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ons r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ather than </a:t>
            </a:r>
            <a:r>
              <a:rPr lang="en-US" sz="202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ev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en</a:t>
            </a:r>
            <a:r>
              <a:rPr lang="en-US" sz="202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ly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spread</a:t>
            </a:r>
            <a:r>
              <a:rPr lang="en-US" sz="202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ctr" marL="437160" indent="-218580" lvl="1">
              <a:lnSpc>
                <a:spcPts val="2834"/>
              </a:lnSpc>
              <a:buFont typeface="Arial"/>
              <a:buChar char="•"/>
            </a:pP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Pa</a:t>
            </a:r>
            <a:r>
              <a:rPr lang="en-US" sz="202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t-tim</a:t>
            </a:r>
            <a:r>
              <a:rPr lang="en-US" sz="202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 pathways appear more frequently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in medium- and h</a:t>
            </a:r>
            <a:r>
              <a:rPr lang="en-US" sz="202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gh-risk segments, suggesting struc</a:t>
            </a:r>
            <a:r>
              <a:rPr lang="en-US" sz="202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tural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con</a:t>
            </a:r>
            <a:r>
              <a:rPr lang="en-US" sz="202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straint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02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ctr" marL="437160" indent="-218580" lvl="1">
              <a:lnSpc>
                <a:spcPts val="2834"/>
              </a:lnSpc>
              <a:buFont typeface="Arial"/>
              <a:buChar char="•"/>
            </a:pP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Risk increa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02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 through interactions be</a:t>
            </a:r>
            <a:r>
              <a:rPr lang="en-US" sz="202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tween qualifi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cation level,</a:t>
            </a:r>
            <a:r>
              <a:rPr lang="en-US" sz="202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study mode,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and residenc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y, not single factors.</a:t>
            </a:r>
          </a:p>
          <a:p>
            <a:pPr algn="ctr" marL="437160" indent="-218580" lvl="1">
              <a:lnSpc>
                <a:spcPts val="2834"/>
              </a:lnSpc>
              <a:buFont typeface="Arial"/>
              <a:buChar char="•"/>
            </a:pP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Medium-risk cohorts dominate several pathways, offering strong prevention leverage.</a:t>
            </a:r>
          </a:p>
          <a:p>
            <a:pPr algn="ctr">
              <a:lnSpc>
                <a:spcPts val="2834"/>
              </a:lnSpc>
            </a:pPr>
            <a:r>
              <a:rPr lang="en-US" b="true" sz="2024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Takeaway:</a:t>
            </a:r>
          </a:p>
          <a:p>
            <a:pPr algn="ctr" marL="437160" indent="-218580" lvl="1">
              <a:lnSpc>
                <a:spcPts val="2834"/>
              </a:lnSpc>
              <a:buFont typeface="Arial"/>
              <a:buChar char="•"/>
            </a:pP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Target interventions at high-risk cohort intersections, not the entire student population, to maximise impact.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12782" y="-47625"/>
            <a:ext cx="7862435" cy="27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301259" y="2023107"/>
            <a:ext cx="6395427" cy="3685365"/>
          </a:xfrm>
          <a:custGeom>
            <a:avLst/>
            <a:gdLst/>
            <a:ahLst/>
            <a:cxnLst/>
            <a:rect r="r" b="b" t="t" l="l"/>
            <a:pathLst>
              <a:path h="3685365" w="6395427">
                <a:moveTo>
                  <a:pt x="0" y="0"/>
                </a:moveTo>
                <a:lnTo>
                  <a:pt x="6395427" y="0"/>
                </a:lnTo>
                <a:lnTo>
                  <a:pt x="6395427" y="3685365"/>
                </a:lnTo>
                <a:lnTo>
                  <a:pt x="0" y="36853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2023107"/>
            <a:ext cx="11301259" cy="3249112"/>
          </a:xfrm>
          <a:custGeom>
            <a:avLst/>
            <a:gdLst/>
            <a:ahLst/>
            <a:cxnLst/>
            <a:rect r="r" b="b" t="t" l="l"/>
            <a:pathLst>
              <a:path h="3249112" w="11301259">
                <a:moveTo>
                  <a:pt x="0" y="0"/>
                </a:moveTo>
                <a:lnTo>
                  <a:pt x="11301259" y="0"/>
                </a:lnTo>
                <a:lnTo>
                  <a:pt x="11301259" y="3249112"/>
                </a:lnTo>
                <a:lnTo>
                  <a:pt x="0" y="3249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46589"/>
            <a:ext cx="16230600" cy="108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b="true" sz="631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KUN MING CHART INSIGHTS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6710" y="5404616"/>
            <a:ext cx="7930180" cy="445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b="true" sz="2114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A3: Risk</a:t>
            </a:r>
            <a:r>
              <a:rPr lang="en-US" b="true" sz="2114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Flow – Semester Tr</a:t>
            </a:r>
            <a:r>
              <a:rPr lang="en-US" b="true" sz="2114" spc="10" u="non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ansi</a:t>
            </a:r>
            <a:r>
              <a:rPr lang="en-US" b="true" sz="2114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tions</a:t>
            </a:r>
          </a:p>
          <a:p>
            <a:pPr algn="ctr" marL="456616" indent="-228308" lvl="1">
              <a:lnSpc>
                <a:spcPts val="2960"/>
              </a:lnSpc>
              <a:buFont typeface="Arial"/>
              <a:buChar char="•"/>
            </a:pP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Most students remain i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 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the same risk ti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er across semesters, showing strong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risk persistence.</a:t>
            </a:r>
          </a:p>
          <a:p>
            <a:pPr algn="ctr" marL="456616" indent="-228308" lvl="1">
              <a:lnSpc>
                <a:spcPts val="2960"/>
              </a:lnSpc>
              <a:buFont typeface="Arial"/>
              <a:buChar char="•"/>
            </a:pP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gh-risk students rarely transition direc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tly to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low 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isk, indicating recov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ery i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 gradual.</a:t>
            </a:r>
          </a:p>
          <a:p>
            <a:pPr algn="ctr" marL="456616" indent="-228308" lvl="1">
              <a:lnSpc>
                <a:spcPts val="2960"/>
              </a:lnSpc>
              <a:buFont typeface="Arial"/>
              <a:buChar char="•"/>
            </a:pP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Medium risk acts as a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transi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tion state,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with movement both upward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and downward.</a:t>
            </a:r>
          </a:p>
          <a:p>
            <a:pPr algn="ctr" marL="456616" indent="-228308" lvl="1">
              <a:lnSpc>
                <a:spcPts val="2960"/>
              </a:lnSpc>
              <a:buFont typeface="Arial"/>
              <a:buChar char="•"/>
            </a:pP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Small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but visible escalation into high risk suggests missed early intervention windows.</a:t>
            </a:r>
          </a:p>
          <a:p>
            <a:pPr algn="ctr">
              <a:lnSpc>
                <a:spcPts val="2960"/>
              </a:lnSpc>
            </a:pPr>
            <a:r>
              <a:rPr lang="en-US" b="true" sz="2114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Takeaway:</a:t>
            </a:r>
          </a:p>
          <a:p>
            <a:pPr algn="ctr" marL="456616" indent="-228308" lvl="1">
              <a:lnSpc>
                <a:spcPts val="2960"/>
              </a:lnSpc>
              <a:buFont typeface="Arial"/>
              <a:buChar char="•"/>
            </a:pP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Early action in Semester 1–2 is critical to prevent long-term entrenchment in high risk.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68134" y="5835394"/>
            <a:ext cx="7930180" cy="445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b="true" sz="2114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A4: Risk</a:t>
            </a:r>
            <a:r>
              <a:rPr lang="en-US" b="true" sz="2114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Hotspots – Course</a:t>
            </a:r>
            <a:r>
              <a:rPr lang="en-US" b="true" sz="2114" spc="10" u="non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</a:t>
            </a:r>
          </a:p>
          <a:p>
            <a:pPr algn="ctr" marL="456616" indent="-228308" lvl="1">
              <a:lnSpc>
                <a:spcPts val="2960"/>
              </a:lnSpc>
              <a:buFont typeface="Arial"/>
              <a:buChar char="•"/>
            </a:pP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Risk 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is concentrated i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 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specific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courses, not evenly distributed.</a:t>
            </a:r>
          </a:p>
          <a:p>
            <a:pPr algn="ctr" marL="456616" indent="-228308" lvl="1">
              <a:lnSpc>
                <a:spcPts val="2960"/>
              </a:lnSpc>
              <a:buFont typeface="Arial"/>
              <a:buChar char="•"/>
            </a:pP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Several programmes show large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medium-risk proportions, signalling vulnerability rather than failure.</a:t>
            </a:r>
          </a:p>
          <a:p>
            <a:pPr algn="ctr" marL="456616" indent="-228308" lvl="1">
              <a:lnSpc>
                <a:spcPts val="2960"/>
              </a:lnSpc>
              <a:buFont typeface="Arial"/>
              <a:buChar char="•"/>
            </a:pP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gh-risk percentages var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y by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cou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se, indicating pro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gramme-level s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truc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tural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effects.</a:t>
            </a:r>
          </a:p>
          <a:p>
            <a:pPr algn="ctr" marL="456616" indent="-228308" lvl="1">
              <a:lnSpc>
                <a:spcPts val="2960"/>
              </a:lnSpc>
              <a:buFont typeface="Arial"/>
              <a:buChar char="•"/>
            </a:pP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Low-risk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dominance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in some courses suggests transferable best practices.</a:t>
            </a:r>
          </a:p>
          <a:p>
            <a:pPr algn="ctr">
              <a:lnSpc>
                <a:spcPts val="2960"/>
              </a:lnSpc>
            </a:pPr>
            <a:r>
              <a:rPr lang="en-US" b="true" sz="2114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Takeaway:</a:t>
            </a:r>
          </a:p>
          <a:p>
            <a:pPr algn="ctr" marL="456616" indent="-228308" lvl="1">
              <a:lnSpc>
                <a:spcPts val="2960"/>
              </a:lnSpc>
              <a:buFont typeface="Arial"/>
              <a:buChar char="•"/>
            </a:pPr>
            <a:r>
              <a:rPr lang="en-US" b="true" sz="2114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Prioritise course-level interventions, starting with programmes where medium and high risk dominate.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12782" y="-47625"/>
            <a:ext cx="7862435" cy="27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2412110"/>
            <a:ext cx="10581656" cy="5462780"/>
          </a:xfrm>
          <a:custGeom>
            <a:avLst/>
            <a:gdLst/>
            <a:ahLst/>
            <a:cxnLst/>
            <a:rect r="r" b="b" t="t" l="l"/>
            <a:pathLst>
              <a:path h="5462780" w="10581656">
                <a:moveTo>
                  <a:pt x="0" y="0"/>
                </a:moveTo>
                <a:lnTo>
                  <a:pt x="10581656" y="0"/>
                </a:lnTo>
                <a:lnTo>
                  <a:pt x="10581656" y="5462780"/>
                </a:lnTo>
                <a:lnTo>
                  <a:pt x="0" y="5462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46589"/>
            <a:ext cx="16230600" cy="108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b="true" sz="631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KUN MING DASHBOARD INSIGHTS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74861" y="2364485"/>
            <a:ext cx="7067348" cy="7283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06934" indent="-203467" lvl="1">
              <a:lnSpc>
                <a:spcPts val="2638"/>
              </a:lnSpc>
              <a:buFont typeface="Arial"/>
              <a:buChar char="•"/>
            </a:pP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Across the dashboard,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 consistent pattern emerges: academic risk is drive</a:t>
            </a:r>
            <a:r>
              <a:rPr lang="en-US" sz="1884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 by the interac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tion of performance, engagement, background factors, and time, rather than any si</a:t>
            </a:r>
            <a:r>
              <a:rPr lang="en-US" sz="1884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ngle variable.</a:t>
            </a:r>
          </a:p>
          <a:p>
            <a:pPr algn="ctr" marL="406934" indent="-203467" lvl="1">
              <a:lnSpc>
                <a:spcPts val="2638"/>
              </a:lnSpc>
              <a:buFont typeface="Arial"/>
              <a:buChar char="•"/>
            </a:pPr>
            <a:r>
              <a:rPr lang="en-US" sz="1884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W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hile attendance is positiv</a:t>
            </a:r>
            <a:r>
              <a:rPr lang="en-US" sz="1884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ely associated with GPA, multiple charts show that attendance alone does not guarantee good outcomes,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revealing a group of students with hidden academic risk.</a:t>
            </a:r>
          </a:p>
          <a:p>
            <a:pPr algn="ctr" marL="406934" indent="-203467" lvl="1">
              <a:lnSpc>
                <a:spcPts val="2638"/>
              </a:lnSpc>
              <a:buFont typeface="Arial"/>
              <a:buChar char="•"/>
            </a:pP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isk trajectories are sticky across semesters—students who enter medium</a:t>
            </a:r>
            <a:r>
              <a:rPr lang="en-US" sz="1884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or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high </a:t>
            </a:r>
            <a:r>
              <a:rPr lang="en-US" sz="1884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isk tend to remain there, indicating that delayed intervention reduces recov</a:t>
            </a:r>
            <a:r>
              <a:rPr lang="en-US" sz="1884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ery potenti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al.</a:t>
            </a:r>
          </a:p>
          <a:p>
            <a:pPr algn="ctr" marL="406934" indent="-203467" lvl="1">
              <a:lnSpc>
                <a:spcPts val="2638"/>
              </a:lnSpc>
              <a:buFont typeface="Arial"/>
              <a:buChar char="•"/>
            </a:pP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Risk is un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evenly distributed across cohorts and courses, suggesting that</a:t>
            </a:r>
            <a:r>
              <a:rPr lang="en-US" sz="1884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structural and c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ontextual factors (e.g.</a:t>
            </a:r>
            <a:r>
              <a:rPr lang="en-US" sz="1884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study mode, course design)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amplify individual risk.</a:t>
            </a:r>
          </a:p>
          <a:p>
            <a:pPr algn="ctr" marL="406934" indent="-203467" lvl="1">
              <a:lnSpc>
                <a:spcPts val="2638"/>
              </a:lnSpc>
              <a:buFont typeface="Arial"/>
              <a:buChar char="•"/>
            </a:pP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Mediu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m-risk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students appear consistently as a transition group, representing the strongest opportunity for early, preventative support.</a:t>
            </a:r>
          </a:p>
          <a:p>
            <a:pPr algn="ctr" marL="406934" indent="-203467" lvl="1">
              <a:lnSpc>
                <a:spcPts val="2638"/>
              </a:lnSpc>
              <a:buFont typeface="Arial"/>
              <a:buChar char="•"/>
            </a:pP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Over</a:t>
            </a:r>
            <a:r>
              <a:rPr lang="en-US" sz="1884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all, the dashboard highlights that effective risk management requires early, targeted, and cohort-aware interventions, rather than broad, attendance-focused monitoring.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12782" y="-47625"/>
            <a:ext cx="7862435" cy="27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446589"/>
            <a:ext cx="16230600" cy="108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b="true" sz="631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KUN MING RECOMMENDATIONS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6710" y="2364327"/>
            <a:ext cx="17701290" cy="661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b="true" sz="3142" spc="15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1) H</a:t>
            </a:r>
            <a:r>
              <a:rPr lang="en-US" b="true" sz="3142" spc="15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igh effort but low GPA (Hidden risk)</a:t>
            </a:r>
          </a:p>
          <a:p>
            <a:pPr algn="ctr" marL="678485" indent="-339243" lvl="1">
              <a:lnSpc>
                <a:spcPts val="4399"/>
              </a:lnSpc>
              <a:buFont typeface="Arial"/>
              <a:buChar char="•"/>
            </a:pPr>
            <a:r>
              <a:rPr lang="en-US" sz="3142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Run</a:t>
            </a:r>
            <a:r>
              <a:rPr lang="en-US" sz="3142" spc="15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targeted study-skills workshops (active recall, assessment strategies) and offer short academic consultations</a:t>
            </a:r>
            <a:r>
              <a:rPr lang="en-US" sz="3142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to diagnose learning gaps beyond attendance.</a:t>
            </a:r>
          </a:p>
          <a:p>
            <a:pPr algn="ctr">
              <a:lnSpc>
                <a:spcPts val="4399"/>
              </a:lnSpc>
            </a:pPr>
            <a:r>
              <a:rPr lang="en-US" b="true" sz="3142" spc="15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2) Med</a:t>
            </a:r>
            <a:r>
              <a:rPr lang="en-US" b="true" sz="3142" spc="15" u="non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ium</a:t>
            </a:r>
            <a:r>
              <a:rPr lang="en-US" b="true" sz="3142" spc="15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-risk students (Prevention focus)</a:t>
            </a:r>
          </a:p>
          <a:p>
            <a:pPr algn="ctr" marL="678485" indent="-339243" lvl="1">
              <a:lnSpc>
                <a:spcPts val="4399"/>
              </a:lnSpc>
              <a:buFont typeface="Arial"/>
              <a:buChar char="•"/>
            </a:pPr>
            <a:r>
              <a:rPr lang="en-US" sz="3142" spc="15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Intervene</a:t>
            </a:r>
            <a:r>
              <a:rPr lang="en-US" sz="3142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early in Semester 1–2 with check-</a:t>
            </a:r>
            <a:r>
              <a:rPr lang="en-US" sz="3142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ins, peer mentoring, and light academic coaching befo</a:t>
            </a:r>
            <a:r>
              <a:rPr lang="en-US" sz="3142" spc="15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re ri</a:t>
            </a:r>
            <a:r>
              <a:rPr lang="en-US" sz="3142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sk escalates.</a:t>
            </a:r>
          </a:p>
          <a:p>
            <a:pPr algn="ctr">
              <a:lnSpc>
                <a:spcPts val="4399"/>
              </a:lnSpc>
            </a:pPr>
            <a:r>
              <a:rPr lang="en-US" b="true" sz="3142" spc="15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3) </a:t>
            </a:r>
            <a:r>
              <a:rPr lang="en-US" b="true" sz="3142" spc="15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Persistent risk across semesters</a:t>
            </a:r>
          </a:p>
          <a:p>
            <a:pPr algn="ctr" marL="678485" indent="-339243" lvl="1">
              <a:lnSpc>
                <a:spcPts val="4399"/>
              </a:lnSpc>
              <a:buFont typeface="Arial"/>
              <a:buChar char="•"/>
            </a:pPr>
            <a:r>
              <a:rPr lang="en-US" sz="3142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Tra</a:t>
            </a:r>
            <a:r>
              <a:rPr lang="en-US" sz="3142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ck ri</a:t>
            </a:r>
            <a:r>
              <a:rPr lang="en-US" sz="3142" spc="15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sk trajectories over tim</a:t>
            </a:r>
            <a:r>
              <a:rPr lang="en-US" sz="3142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 and escalate</a:t>
            </a:r>
            <a:r>
              <a:rPr lang="en-US" sz="3142" spc="15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support for students who remain medium/high risk across multiple</a:t>
            </a:r>
            <a:r>
              <a:rPr lang="en-US" sz="3142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semesters.</a:t>
            </a:r>
          </a:p>
          <a:p>
            <a:pPr algn="ctr">
              <a:lnSpc>
                <a:spcPts val="4399"/>
              </a:lnSpc>
            </a:pPr>
            <a:r>
              <a:rPr lang="en-US" b="true" sz="3142" spc="15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4) High-risk courses and constrained cohorts</a:t>
            </a:r>
          </a:p>
          <a:p>
            <a:pPr algn="ctr" marL="678485" indent="-339243" lvl="1">
              <a:lnSpc>
                <a:spcPts val="4399"/>
              </a:lnSpc>
              <a:buFont typeface="Arial"/>
              <a:buChar char="•"/>
            </a:pPr>
            <a:r>
              <a:rPr lang="en-US" sz="3142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</a:t>
            </a:r>
            <a:r>
              <a:rPr lang="en-US" sz="3142" spc="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rioritise course-level support (clearer rubrics, pacing review) and flexible, asynchronous help for part-time or higher-constraint students.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12782" y="-47625"/>
            <a:ext cx="7862435" cy="27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82319" y="1799270"/>
            <a:ext cx="8461681" cy="4156801"/>
          </a:xfrm>
          <a:custGeom>
            <a:avLst/>
            <a:gdLst/>
            <a:ahLst/>
            <a:cxnLst/>
            <a:rect r="r" b="b" t="t" l="l"/>
            <a:pathLst>
              <a:path h="4156801" w="8461681">
                <a:moveTo>
                  <a:pt x="0" y="0"/>
                </a:moveTo>
                <a:lnTo>
                  <a:pt x="8461681" y="0"/>
                </a:lnTo>
                <a:lnTo>
                  <a:pt x="8461681" y="4156801"/>
                </a:lnTo>
                <a:lnTo>
                  <a:pt x="0" y="4156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2319" y="5956071"/>
            <a:ext cx="7557377" cy="4392726"/>
          </a:xfrm>
          <a:custGeom>
            <a:avLst/>
            <a:gdLst/>
            <a:ahLst/>
            <a:cxnLst/>
            <a:rect r="r" b="b" t="t" l="l"/>
            <a:pathLst>
              <a:path h="4392726" w="7557377">
                <a:moveTo>
                  <a:pt x="0" y="0"/>
                </a:moveTo>
                <a:lnTo>
                  <a:pt x="7557377" y="0"/>
                </a:lnTo>
                <a:lnTo>
                  <a:pt x="7557377" y="4392725"/>
                </a:lnTo>
                <a:lnTo>
                  <a:pt x="0" y="43927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46589"/>
            <a:ext cx="16230600" cy="108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b="true" sz="631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JENSON CHART INSIGHTS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28740" y="1761170"/>
            <a:ext cx="8859260" cy="399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b="true" sz="1902" spc="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B1: Survey Drivers – Risk vs Dimension (Z-score Mean)</a:t>
            </a:r>
          </a:p>
          <a:p>
            <a:pPr algn="ctr" marL="410740" indent="-205370" lvl="1">
              <a:lnSpc>
                <a:spcPts val="2663"/>
              </a:lnSpc>
              <a:buFont typeface="Arial"/>
              <a:buChar char="•"/>
            </a:pP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Self-study hours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show the strong</a:t>
            </a:r>
            <a:r>
              <a:rPr lang="en-US" sz="1902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est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separati</a:t>
            </a:r>
            <a:r>
              <a:rPr lang="en-US" sz="1902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 across risk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levels, maki</a:t>
            </a:r>
            <a:r>
              <a:rPr lang="en-US" sz="1902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ng it the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most influ</a:t>
            </a:r>
            <a:r>
              <a:rPr lang="en-US" sz="1902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ential and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modifiable factor</a:t>
            </a:r>
            <a:r>
              <a:rPr lang="en-US" sz="1902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ctr" marL="410740" indent="-205370" lvl="1">
              <a:lnSpc>
                <a:spcPts val="2663"/>
              </a:lnSpc>
              <a:buFont typeface="Arial"/>
              <a:buChar char="•"/>
            </a:pP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Pri</a:t>
            </a:r>
            <a:r>
              <a:rPr lang="en-US" sz="1902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or 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knowle</a:t>
            </a:r>
            <a:r>
              <a:rPr lang="en-US" sz="1902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dge and teac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hing support decrease stead</a:t>
            </a:r>
            <a:r>
              <a:rPr lang="en-US" sz="1902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ily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as risk increases, indica</a:t>
            </a:r>
            <a:r>
              <a:rPr lang="en-US" sz="1902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ing foundati</a:t>
            </a:r>
            <a:r>
              <a:rPr lang="en-US" sz="1902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onal and instruct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io</a:t>
            </a:r>
            <a:r>
              <a:rPr lang="en-US" sz="1902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nal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alignment gaps.</a:t>
            </a:r>
          </a:p>
          <a:p>
            <a:pPr algn="ctr" marL="410740" indent="-205370" lvl="1">
              <a:lnSpc>
                <a:spcPts val="2663"/>
              </a:lnSpc>
              <a:buFont typeface="Arial"/>
              <a:buChar char="•"/>
            </a:pP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Family </a:t>
            </a:r>
            <a:r>
              <a:rPr lang="en-US" sz="1902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and compa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ny support sh</a:t>
            </a:r>
            <a:r>
              <a:rPr lang="en-US" sz="1902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ow weaker differe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ntiation, sugg</a:t>
            </a:r>
            <a:r>
              <a:rPr lang="en-US" sz="1902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es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ting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they are less direct drivers of academic risk.</a:t>
            </a:r>
          </a:p>
          <a:p>
            <a:pPr algn="ctr" marL="410740" indent="-205370" lvl="1">
              <a:lnSpc>
                <a:spcPts val="2663"/>
              </a:lnSpc>
              <a:buFont typeface="Arial"/>
              <a:buChar char="•"/>
            </a:pP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Ov</a:t>
            </a: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erall, behavioural and academic factors dominate over external support factors.</a:t>
            </a:r>
          </a:p>
          <a:p>
            <a:pPr algn="ctr">
              <a:lnSpc>
                <a:spcPts val="2663"/>
              </a:lnSpc>
            </a:pPr>
            <a:r>
              <a:rPr lang="en-US" b="true" sz="1902" spc="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Insight</a:t>
            </a:r>
            <a:r>
              <a:rPr lang="en-US" b="true" sz="1902" spc="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:</a:t>
            </a:r>
          </a:p>
          <a:p>
            <a:pPr algn="ctr">
              <a:lnSpc>
                <a:spcPts val="2663"/>
              </a:lnSpc>
            </a:pPr>
            <a:r>
              <a:rPr lang="en-US" sz="1902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Risk is primarily driven by study behaviour and academic preparedness, not access to support alone.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76124" y="6258192"/>
            <a:ext cx="9911876" cy="3520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4"/>
              </a:lnSpc>
            </a:pPr>
            <a:r>
              <a:rPr lang="en-US" b="true" sz="2024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B3: Likert Profile – Prior Knowledge (Percent)</a:t>
            </a:r>
          </a:p>
          <a:p>
            <a:pPr algn="ctr" marL="437160" indent="-218580" lvl="1">
              <a:lnSpc>
                <a:spcPts val="2834"/>
              </a:lnSpc>
              <a:buFont typeface="Arial"/>
              <a:buChar char="•"/>
            </a:pP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High-risk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students cluster in mid-t</a:t>
            </a:r>
            <a:r>
              <a:rPr lang="en-US" sz="202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o-low agr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02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em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ent responses, indic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ting</a:t>
            </a:r>
            <a:r>
              <a:rPr lang="en-US" sz="202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weaker academic foundat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ions.</a:t>
            </a:r>
          </a:p>
          <a:p>
            <a:pPr algn="ctr" marL="437160" indent="-218580" lvl="1">
              <a:lnSpc>
                <a:spcPts val="2834"/>
              </a:lnSpc>
              <a:buFont typeface="Arial"/>
              <a:buChar char="•"/>
            </a:pP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Low-risk students show a higher concen</a:t>
            </a:r>
            <a:r>
              <a:rPr lang="en-US" sz="202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trat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ion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of strong agre</a:t>
            </a:r>
            <a:r>
              <a:rPr lang="en-US" sz="202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ement, refle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cting c</a:t>
            </a:r>
            <a:r>
              <a:rPr lang="en-US" sz="202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nfidence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and preparedness.</a:t>
            </a:r>
          </a:p>
          <a:p>
            <a:pPr algn="ctr" marL="437160" indent="-218580" lvl="1">
              <a:lnSpc>
                <a:spcPts val="2834"/>
              </a:lnSpc>
              <a:buFont typeface="Arial"/>
              <a:buChar char="•"/>
            </a:pP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Medium-risk students sit between both groups, suggesting partial foundations and recover</a:t>
            </a: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y potential.</a:t>
            </a:r>
          </a:p>
          <a:p>
            <a:pPr algn="ctr">
              <a:lnSpc>
                <a:spcPts val="2834"/>
              </a:lnSpc>
            </a:pPr>
            <a:r>
              <a:rPr lang="en-US" b="true" sz="2024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Insight:</a:t>
            </a:r>
          </a:p>
          <a:p>
            <a:pPr algn="ctr">
              <a:lnSpc>
                <a:spcPts val="2834"/>
              </a:lnSpc>
            </a:pPr>
            <a:r>
              <a:rPr lang="en-US" sz="202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Gaps in prior knowledge are progressive rather than binary, making early reinforcement effective.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12782" y="-47625"/>
            <a:ext cx="7862435" cy="27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2023107"/>
            <a:ext cx="10920677" cy="3786502"/>
          </a:xfrm>
          <a:custGeom>
            <a:avLst/>
            <a:gdLst/>
            <a:ahLst/>
            <a:cxnLst/>
            <a:rect r="r" b="b" t="t" l="l"/>
            <a:pathLst>
              <a:path h="3786502" w="10920677">
                <a:moveTo>
                  <a:pt x="0" y="0"/>
                </a:moveTo>
                <a:lnTo>
                  <a:pt x="10920677" y="0"/>
                </a:lnTo>
                <a:lnTo>
                  <a:pt x="10920677" y="3786503"/>
                </a:lnTo>
                <a:lnTo>
                  <a:pt x="0" y="3786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468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54455" y="1913570"/>
            <a:ext cx="6975376" cy="4071876"/>
          </a:xfrm>
          <a:custGeom>
            <a:avLst/>
            <a:gdLst/>
            <a:ahLst/>
            <a:cxnLst/>
            <a:rect r="r" b="b" t="t" l="l"/>
            <a:pathLst>
              <a:path h="4071876" w="6975376">
                <a:moveTo>
                  <a:pt x="0" y="0"/>
                </a:moveTo>
                <a:lnTo>
                  <a:pt x="6975377" y="0"/>
                </a:lnTo>
                <a:lnTo>
                  <a:pt x="6975377" y="4071876"/>
                </a:lnTo>
                <a:lnTo>
                  <a:pt x="0" y="40718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46589"/>
            <a:ext cx="16230600" cy="108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b="true" sz="631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JENSON CHART INSIGHTS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5301" y="5835394"/>
            <a:ext cx="7930180" cy="408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b="true" sz="2114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B4: Study Hours by Risk</a:t>
            </a:r>
          </a:p>
          <a:p>
            <a:pPr algn="ctr" marL="456616" indent="-228308" lvl="1">
              <a:lnSpc>
                <a:spcPts val="2960"/>
              </a:lnSpc>
              <a:buFont typeface="Arial"/>
              <a:buChar char="•"/>
            </a:pP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Study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hours decrease sharply 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as risk 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increases, with high-risk students showi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ng 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the lowest median and tight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clustering at low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values.</a:t>
            </a:r>
          </a:p>
          <a:p>
            <a:pPr algn="ctr" marL="456616" indent="-228308" lvl="1">
              <a:lnSpc>
                <a:spcPts val="2960"/>
              </a:lnSpc>
              <a:buFont typeface="Arial"/>
              <a:buChar char="•"/>
            </a:pP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Low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-risk students consistently report higher and more s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table study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ime, indicating disciplin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ed study habit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s.</a:t>
            </a:r>
          </a:p>
          <a:p>
            <a:pPr algn="ctr" marL="456616" indent="-228308" lvl="1">
              <a:lnSpc>
                <a:spcPts val="2960"/>
              </a:lnSpc>
              <a:buFont typeface="Arial"/>
              <a:buChar char="•"/>
            </a:pP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Medium-risk students show wide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spread, suggesting 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inconsisten</a:t>
            </a:r>
            <a:r>
              <a:rPr lang="en-US" sz="2114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 or inefficient study</a:t>
            </a: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patterns.</a:t>
            </a:r>
          </a:p>
          <a:p>
            <a:pPr algn="ctr">
              <a:lnSpc>
                <a:spcPts val="2960"/>
              </a:lnSpc>
            </a:pPr>
            <a:r>
              <a:rPr lang="en-US" b="true" sz="2114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</a:t>
            </a:r>
            <a:r>
              <a:rPr lang="en-US" b="true" sz="2114" spc="1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sight:</a:t>
            </a:r>
          </a:p>
          <a:p>
            <a:pPr algn="ctr">
              <a:lnSpc>
                <a:spcPts val="2960"/>
              </a:lnSpc>
            </a:pPr>
            <a:r>
              <a:rPr lang="en-US" sz="2114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Self-study time is the strongest behavioural differentiator between risk groups and a key intervention lever.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4893" y="6056883"/>
            <a:ext cx="7922722" cy="4046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1"/>
              </a:lnSpc>
            </a:pPr>
            <a:r>
              <a:rPr lang="en-US" b="true" sz="1908" spc="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B8: Risk</a:t>
            </a:r>
            <a:r>
              <a:rPr lang="en-US" b="true" sz="1908" spc="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Priorities – Lowest Dimen</a:t>
            </a:r>
            <a:r>
              <a:rPr lang="en-US" b="true" sz="1908" spc="9" u="non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sions (High Risk)</a:t>
            </a:r>
          </a:p>
          <a:p>
            <a:pPr algn="ctr" marL="412022" indent="-206011" lvl="1">
              <a:lnSpc>
                <a:spcPts val="2671"/>
              </a:lnSpc>
              <a:buFont typeface="Arial"/>
              <a:buChar char="•"/>
            </a:pPr>
            <a:r>
              <a:rPr lang="en-US" sz="1908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High-r</a:t>
            </a: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isk students</a:t>
            </a:r>
            <a:r>
              <a:rPr lang="en-US" sz="1908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1908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core lowest on prior knowledge</a:t>
            </a: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and teaching support, highlighting foundational and instructional gaps.</a:t>
            </a:r>
          </a:p>
          <a:p>
            <a:pPr algn="ctr" marL="412022" indent="-206011" lvl="1">
              <a:lnSpc>
                <a:spcPts val="2671"/>
              </a:lnSpc>
              <a:buFont typeface="Arial"/>
              <a:buChar char="•"/>
            </a:pP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Cou</a:t>
            </a: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rse relevance</a:t>
            </a:r>
            <a:r>
              <a:rPr lang="en-US" sz="1908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also</a:t>
            </a: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08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rank</a:t>
            </a: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 low, suggesting disengagement or misalignment with pro</a:t>
            </a: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gramme </a:t>
            </a:r>
            <a:r>
              <a:rPr lang="en-US" sz="1908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con</a:t>
            </a: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1908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ent.</a:t>
            </a:r>
          </a:p>
          <a:p>
            <a:pPr algn="ctr" marL="412022" indent="-206011" lvl="1">
              <a:lnSpc>
                <a:spcPts val="2671"/>
              </a:lnSpc>
              <a:buFont typeface="Arial"/>
              <a:buChar char="•"/>
            </a:pPr>
            <a:r>
              <a:rPr lang="en-US" sz="1908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Fam</a:t>
            </a:r>
            <a:r>
              <a:rPr lang="en-US" sz="1908" spc="9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ily</a:t>
            </a: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and company</a:t>
            </a: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support rank lowest but are less directly modifiable,</a:t>
            </a: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limiting their usefulness as primary intervention targets.</a:t>
            </a:r>
          </a:p>
          <a:p>
            <a:pPr algn="ctr">
              <a:lnSpc>
                <a:spcPts val="2671"/>
              </a:lnSpc>
            </a:pPr>
            <a:r>
              <a:rPr lang="en-US" b="true" sz="1908" spc="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Insight:</a:t>
            </a:r>
          </a:p>
          <a:p>
            <a:pPr algn="ctr">
              <a:lnSpc>
                <a:spcPts val="2671"/>
              </a:lnSpc>
            </a:pPr>
            <a:r>
              <a:rPr lang="en-US" sz="1908" spc="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The most actionable priorities for high-risk students are strengthening academic foundations and instructional support, not external support factors.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12782" y="-47625"/>
            <a:ext cx="7862435" cy="27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2696930"/>
            <a:ext cx="10648496" cy="5555567"/>
          </a:xfrm>
          <a:custGeom>
            <a:avLst/>
            <a:gdLst/>
            <a:ahLst/>
            <a:cxnLst/>
            <a:rect r="r" b="b" t="t" l="l"/>
            <a:pathLst>
              <a:path h="5555567" w="10648496">
                <a:moveTo>
                  <a:pt x="0" y="0"/>
                </a:moveTo>
                <a:lnTo>
                  <a:pt x="10648496" y="0"/>
                </a:lnTo>
                <a:lnTo>
                  <a:pt x="10648496" y="5555567"/>
                </a:lnTo>
                <a:lnTo>
                  <a:pt x="0" y="5555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30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46589"/>
            <a:ext cx="16230600" cy="108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b="true" sz="631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JENSON DASHBOARD INSIGHTS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48496" y="1973007"/>
            <a:ext cx="7121706" cy="8313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44577" indent="-222289" lvl="1">
              <a:lnSpc>
                <a:spcPts val="2882"/>
              </a:lnSpc>
              <a:buFont typeface="Arial"/>
              <a:buChar char="•"/>
            </a:pP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Across the dashboard, learning behaviours are the str</a:t>
            </a: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ongest differentiators of </a:t>
            </a:r>
            <a:r>
              <a:rPr lang="en-US" sz="2059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academic risk, outweigh</a:t>
            </a: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ing external support factors.</a:t>
            </a:r>
          </a:p>
          <a:p>
            <a:pPr algn="ctr" marL="444577" indent="-222289" lvl="1">
              <a:lnSpc>
                <a:spcPts val="2882"/>
              </a:lnSpc>
              <a:buFont typeface="Arial"/>
              <a:buChar char="•"/>
            </a:pP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Self-study hours consistently show</a:t>
            </a:r>
            <a:r>
              <a:rPr lang="en-US" sz="2059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the largest gap between risk groups and the</a:t>
            </a:r>
            <a:r>
              <a:rPr lang="en-US" sz="2059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strongest </a:t>
            </a: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associati</a:t>
            </a: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 w</a:t>
            </a: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ith GPA, making it the most actionable intervention lever.</a:t>
            </a:r>
          </a:p>
          <a:p>
            <a:pPr algn="ctr" marL="444577" indent="-222289" lvl="1">
              <a:lnSpc>
                <a:spcPts val="2882"/>
              </a:lnSpc>
              <a:buFont typeface="Arial"/>
              <a:buChar char="•"/>
            </a:pP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Prior knowledge and teaching suppor</a:t>
            </a:r>
            <a:r>
              <a:rPr lang="en-US" sz="2059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 decline steadily</a:t>
            </a: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as r</a:t>
            </a: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isk increases, indicating foundational gaps and instructional alignm</a:t>
            </a:r>
            <a:r>
              <a:rPr lang="en-US" sz="2059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ent issues rather than lack of motivation</a:t>
            </a: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ctr" marL="444577" indent="-222289" lvl="1">
              <a:lnSpc>
                <a:spcPts val="2882"/>
              </a:lnSpc>
              <a:buFont typeface="Arial"/>
              <a:buChar char="•"/>
            </a:pP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Course relevanc</a:t>
            </a: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 emerges as a key disengagement signal among high-risk student</a:t>
            </a:r>
            <a:r>
              <a:rPr lang="en-US" sz="2059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s, suggesting m</a:t>
            </a: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isalignment between studen</a:t>
            </a:r>
            <a:r>
              <a:rPr lang="en-US" sz="2059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 expectations and curriculum demands.</a:t>
            </a:r>
          </a:p>
          <a:p>
            <a:pPr algn="ctr" marL="444577" indent="-222289" lvl="1">
              <a:lnSpc>
                <a:spcPts val="2882"/>
              </a:lnSpc>
              <a:buFont typeface="Arial"/>
              <a:buChar char="•"/>
            </a:pPr>
            <a:r>
              <a:rPr lang="en-US" sz="2059" spc="10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 contrast, family and company</a:t>
            </a: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support show weaker correlations w</a:t>
            </a: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ith outcomes, making them lower-priority targets for direct academic intervention.</a:t>
            </a:r>
          </a:p>
          <a:p>
            <a:pPr algn="ctr" marL="444577" indent="-222289" lvl="1">
              <a:lnSpc>
                <a:spcPts val="2882"/>
              </a:lnSpc>
              <a:buFont typeface="Arial"/>
              <a:buChar char="•"/>
            </a:pPr>
            <a:r>
              <a:rPr lang="en-US" sz="2059" spc="1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Overall, the dashboard indicates that targeted academic and behavioural interventions (study habits, foundations, instructional support) are likely to be more effective than broad support-based approaches.</a:t>
            </a:r>
          </a:p>
          <a:p>
            <a:pPr algn="ctr">
              <a:lnSpc>
                <a:spcPts val="288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212782" y="-47625"/>
            <a:ext cx="7862435" cy="27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446589"/>
            <a:ext cx="16230600" cy="108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b="true" sz="631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JENSON RECOMMENDATIONS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956432"/>
            <a:ext cx="18288000" cy="789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2"/>
              </a:lnSpc>
            </a:pPr>
            <a:r>
              <a:rPr lang="en-US" b="true" sz="2794" spc="1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1) Prior</a:t>
            </a:r>
            <a:r>
              <a:rPr lang="en-US" b="true" sz="2794" spc="1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itise self-study behaviour as the primary intervention lever</a:t>
            </a:r>
          </a:p>
          <a:p>
            <a:pPr algn="ctr" marL="603357" indent="-301679" lvl="1">
              <a:lnSpc>
                <a:spcPts val="3912"/>
              </a:lnSpc>
              <a:buFont typeface="Arial"/>
              <a:buChar char="•"/>
            </a:pP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B1 and B4 show self-study hours as the strongest and most consistent differentiator of risk.</a:t>
            </a:r>
          </a:p>
          <a:p>
            <a:pPr algn="ctr" marL="603357" indent="-301679" lvl="1">
              <a:lnSpc>
                <a:spcPts val="3912"/>
              </a:lnSpc>
              <a:buFont typeface="Arial"/>
              <a:buChar char="•"/>
            </a:pP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Implement struct</a:t>
            </a: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ured study plans, guided weekly</a:t>
            </a:r>
            <a:r>
              <a:rPr lang="en-US" sz="2794" spc="13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targets, and study-skills workshops (active recall, time planning).</a:t>
            </a:r>
          </a:p>
          <a:p>
            <a:pPr algn="ctr">
              <a:lnSpc>
                <a:spcPts val="3912"/>
              </a:lnSpc>
            </a:pPr>
            <a:r>
              <a:rPr lang="en-US" b="true" sz="2794" spc="13" u="non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2) Address foundational</a:t>
            </a:r>
            <a:r>
              <a:rPr lang="en-US" b="true" sz="2794" spc="1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knowledge gaps early</a:t>
            </a:r>
          </a:p>
          <a:p>
            <a:pPr algn="ctr" marL="603357" indent="-301679" lvl="1">
              <a:lnSpc>
                <a:spcPts val="3912"/>
              </a:lnSpc>
              <a:buFont typeface="Arial"/>
              <a:buChar char="•"/>
            </a:pP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B1 and B3 indicate declining prior knowledge as risk increases, with</a:t>
            </a: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h</a:t>
            </a:r>
            <a:r>
              <a:rPr lang="en-US" sz="2794" spc="13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igh</a:t>
            </a: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-risk students clustering in lower confidence bands.</a:t>
            </a:r>
          </a:p>
          <a:p>
            <a:pPr algn="ctr" marL="603357" indent="-301679" lvl="1">
              <a:lnSpc>
                <a:spcPts val="3912"/>
              </a:lnSpc>
              <a:buFont typeface="Arial"/>
              <a:buChar char="•"/>
            </a:pP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Introduce bridging modules, prerequisi</a:t>
            </a:r>
            <a:r>
              <a:rPr lang="en-US" sz="2794" spc="13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te refreshers, or</a:t>
            </a: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early diagnostic quizzes with targeted remed</a:t>
            </a: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iation.</a:t>
            </a:r>
          </a:p>
          <a:p>
            <a:pPr algn="ctr">
              <a:lnSpc>
                <a:spcPts val="3912"/>
              </a:lnSpc>
            </a:pPr>
            <a:r>
              <a:rPr lang="en-US" b="true" sz="2794" spc="1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3) Strengthen instructional alignment rather than ext</a:t>
            </a:r>
            <a:r>
              <a:rPr lang="en-US" b="true" sz="2794" spc="13" u="non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ernal</a:t>
            </a:r>
            <a:r>
              <a:rPr lang="en-US" b="true" sz="2794" spc="1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support</a:t>
            </a:r>
          </a:p>
          <a:p>
            <a:pPr algn="ctr" marL="603357" indent="-301679" lvl="1">
              <a:lnSpc>
                <a:spcPts val="3912"/>
              </a:lnSpc>
              <a:buFont typeface="Arial"/>
              <a:buChar char="•"/>
            </a:pP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B1 </a:t>
            </a: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shows teaching support and course relevance sepa</a:t>
            </a: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rating</a:t>
            </a: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ri</a:t>
            </a:r>
            <a:r>
              <a:rPr lang="en-US" sz="2794" spc="13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sk groups more cl</a:t>
            </a: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early than family or company</a:t>
            </a:r>
            <a:r>
              <a:rPr lang="en-US" sz="2794" spc="13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support.</a:t>
            </a:r>
          </a:p>
          <a:p>
            <a:pPr algn="ctr" marL="603357" indent="-301679" lvl="1">
              <a:lnSpc>
                <a:spcPts val="3912"/>
              </a:lnSpc>
              <a:buFont typeface="Arial"/>
              <a:buChar char="•"/>
            </a:pPr>
            <a:r>
              <a:rPr lang="en-US" sz="2794" spc="13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Review course pacing, assessment clarity, and feedback mechanisms, especially for cohorts with high perceived</a:t>
            </a: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misalignment.</a:t>
            </a:r>
          </a:p>
          <a:p>
            <a:pPr algn="ctr">
              <a:lnSpc>
                <a:spcPts val="3912"/>
              </a:lnSpc>
            </a:pPr>
            <a:r>
              <a:rPr lang="en-US" b="true" sz="2794" spc="1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4) De-prioritise broad external support as a primary academic intervention</a:t>
            </a:r>
          </a:p>
          <a:p>
            <a:pPr algn="ctr" marL="603357" indent="-301679" lvl="1">
              <a:lnSpc>
                <a:spcPts val="3912"/>
              </a:lnSpc>
              <a:buFont typeface="Arial"/>
              <a:buChar char="•"/>
            </a:pP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Family and company support show weaker differentiation and lower outcome correlation.</a:t>
            </a:r>
          </a:p>
          <a:p>
            <a:pPr algn="ctr" marL="603357" indent="-301679" lvl="1">
              <a:lnSpc>
                <a:spcPts val="3912"/>
              </a:lnSpc>
              <a:buFont typeface="Arial"/>
              <a:buChar char="•"/>
            </a:pPr>
            <a:r>
              <a:rPr lang="en-US" sz="2794" spc="1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Treat these as supplementary, not core, levers for reducing academic risk.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12782" y="-47625"/>
            <a:ext cx="7862435" cy="27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859713"/>
            <a:ext cx="16230600" cy="242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0"/>
              </a:lnSpc>
            </a:pPr>
            <a:r>
              <a:rPr lang="en-US" b="true" sz="691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APPENDIX:</a:t>
            </a:r>
          </a:p>
          <a:p>
            <a:pPr algn="ctr">
              <a:lnSpc>
                <a:spcPts val="9680"/>
              </a:lnSpc>
              <a:spcBef>
                <a:spcPct val="0"/>
              </a:spcBef>
            </a:pPr>
            <a:r>
              <a:rPr lang="en-US" b="true" sz="691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ADDITIONAL CHARTS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212782" y="-47625"/>
            <a:ext cx="7862435" cy="27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823534" y="2023107"/>
            <a:ext cx="8164314" cy="4694480"/>
          </a:xfrm>
          <a:custGeom>
            <a:avLst/>
            <a:gdLst/>
            <a:ahLst/>
            <a:cxnLst/>
            <a:rect r="r" b="b" t="t" l="l"/>
            <a:pathLst>
              <a:path h="4694480" w="8164314">
                <a:moveTo>
                  <a:pt x="0" y="0"/>
                </a:moveTo>
                <a:lnTo>
                  <a:pt x="8164314" y="0"/>
                </a:lnTo>
                <a:lnTo>
                  <a:pt x="8164314" y="4694481"/>
                </a:lnTo>
                <a:lnTo>
                  <a:pt x="0" y="4694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93371" y="6936663"/>
            <a:ext cx="11301259" cy="3277365"/>
          </a:xfrm>
          <a:custGeom>
            <a:avLst/>
            <a:gdLst/>
            <a:ahLst/>
            <a:cxnLst/>
            <a:rect r="r" b="b" t="t" l="l"/>
            <a:pathLst>
              <a:path h="3277365" w="11301259">
                <a:moveTo>
                  <a:pt x="0" y="0"/>
                </a:moveTo>
                <a:lnTo>
                  <a:pt x="11301258" y="0"/>
                </a:lnTo>
                <a:lnTo>
                  <a:pt x="11301258" y="3277365"/>
                </a:lnTo>
                <a:lnTo>
                  <a:pt x="0" y="3277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46589"/>
            <a:ext cx="16230600" cy="108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b="true" sz="631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APPENDIX: KUN MING CHARTS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12782" y="-47625"/>
            <a:ext cx="7862435" cy="27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85022" y="2159217"/>
            <a:ext cx="7582768" cy="5968565"/>
          </a:xfrm>
          <a:custGeom>
            <a:avLst/>
            <a:gdLst/>
            <a:ahLst/>
            <a:cxnLst/>
            <a:rect r="r" b="b" t="t" l="l"/>
            <a:pathLst>
              <a:path h="5968565" w="7582768">
                <a:moveTo>
                  <a:pt x="0" y="0"/>
                </a:moveTo>
                <a:lnTo>
                  <a:pt x="7582768" y="0"/>
                </a:lnTo>
                <a:lnTo>
                  <a:pt x="7582768" y="5968566"/>
                </a:lnTo>
                <a:lnTo>
                  <a:pt x="0" y="596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68086" y="2318061"/>
            <a:ext cx="8836078" cy="5809722"/>
          </a:xfrm>
          <a:custGeom>
            <a:avLst/>
            <a:gdLst/>
            <a:ahLst/>
            <a:cxnLst/>
            <a:rect r="r" b="b" t="t" l="l"/>
            <a:pathLst>
              <a:path h="5809722" w="8836078">
                <a:moveTo>
                  <a:pt x="0" y="0"/>
                </a:moveTo>
                <a:lnTo>
                  <a:pt x="8836078" y="0"/>
                </a:lnTo>
                <a:lnTo>
                  <a:pt x="8836078" y="5809722"/>
                </a:lnTo>
                <a:lnTo>
                  <a:pt x="0" y="580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46589"/>
            <a:ext cx="16230600" cy="108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b="true" sz="631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APPENDIX: JENSON CHARTS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12782" y="-47625"/>
            <a:ext cx="7862435" cy="27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008689" y="1940966"/>
            <a:ext cx="7434666" cy="4832533"/>
          </a:xfrm>
          <a:custGeom>
            <a:avLst/>
            <a:gdLst/>
            <a:ahLst/>
            <a:cxnLst/>
            <a:rect r="r" b="b" t="t" l="l"/>
            <a:pathLst>
              <a:path h="4832533" w="7434666">
                <a:moveTo>
                  <a:pt x="0" y="0"/>
                </a:moveTo>
                <a:lnTo>
                  <a:pt x="7434666" y="0"/>
                </a:lnTo>
                <a:lnTo>
                  <a:pt x="7434666" y="4832533"/>
                </a:lnTo>
                <a:lnTo>
                  <a:pt x="0" y="4832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96642" y="6773499"/>
            <a:ext cx="11694715" cy="3362231"/>
          </a:xfrm>
          <a:custGeom>
            <a:avLst/>
            <a:gdLst/>
            <a:ahLst/>
            <a:cxnLst/>
            <a:rect r="r" b="b" t="t" l="l"/>
            <a:pathLst>
              <a:path h="3362231" w="11694715">
                <a:moveTo>
                  <a:pt x="0" y="0"/>
                </a:moveTo>
                <a:lnTo>
                  <a:pt x="11694716" y="0"/>
                </a:lnTo>
                <a:lnTo>
                  <a:pt x="11694716" y="3362230"/>
                </a:lnTo>
                <a:lnTo>
                  <a:pt x="0" y="3362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46589"/>
            <a:ext cx="16230600" cy="108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b="true" sz="631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APPENDIX: JENSON CHARTS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12782" y="-47625"/>
            <a:ext cx="7862435" cy="27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Official (Closed), Sensitive (Normal)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DAHAieT1QtY</dc:identifier>
  <dcterms:modified xsi:type="dcterms:W3CDTF">2011-08-01T06:04:30Z</dcterms:modified>
  <cp:revision>1</cp:revision>
  <dc:title>DAVI CA2</dc:title>
</cp:coreProperties>
</file>